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f16935e84946cd" /><Relationship Type="http://schemas.openxmlformats.org/officeDocument/2006/relationships/extended-properties" Target="/docProps/app.xml" Id="R057e56d54cd44744" /><Relationship Type="http://schemas.openxmlformats.org/officeDocument/2006/relationships/officeDocument" Target="/ppt/presentation.xml" Id="R6211ef3fa3cc4a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74e4b225cf4283"/>
  </p:sldMasterIdLst>
  <p:notesMasterIdLst>
    <p:notesMasterId xmlns:r="http://schemas.openxmlformats.org/officeDocument/2006/relationships" r:id="R70bdac0a05a54c6c"/>
  </p:notesMasterIdLst>
  <p:sldIdLst>
    <p:sldId xmlns:r="http://schemas.openxmlformats.org/officeDocument/2006/relationships" id="256" r:id="Rbe58da2b5b2d4067"/>
    <p:sldId xmlns:r="http://schemas.openxmlformats.org/officeDocument/2006/relationships" id="257" r:id="Rafd89f7b87474059"/>
    <p:sldId xmlns:r="http://schemas.openxmlformats.org/officeDocument/2006/relationships" id="258" r:id="R195a4354cd494fa9"/>
    <p:sldId xmlns:r="http://schemas.openxmlformats.org/officeDocument/2006/relationships" id="259" r:id="Rcf15e413812e4434"/>
    <p:sldId xmlns:r="http://schemas.openxmlformats.org/officeDocument/2006/relationships" id="260" r:id="Rd7289ae521a54173"/>
    <p:sldId xmlns:r="http://schemas.openxmlformats.org/officeDocument/2006/relationships" id="261" r:id="Rf1dc2c0a987d4bcc"/>
    <p:sldId xmlns:r="http://schemas.openxmlformats.org/officeDocument/2006/relationships" id="262" r:id="Ra0b5ffc5ab06461e"/>
    <p:sldId xmlns:r="http://schemas.openxmlformats.org/officeDocument/2006/relationships" id="263" r:id="Raf84e70c01f34baf"/>
    <p:sldId xmlns:r="http://schemas.openxmlformats.org/officeDocument/2006/relationships" id="264" r:id="R18dfae837995417d"/>
    <p:sldId xmlns:r="http://schemas.openxmlformats.org/officeDocument/2006/relationships" id="265" r:id="R34bd665d9de04d03"/>
    <p:sldId xmlns:r="http://schemas.openxmlformats.org/officeDocument/2006/relationships" id="266" r:id="R73d659385c174b99"/>
    <p:sldId xmlns:r="http://schemas.openxmlformats.org/officeDocument/2006/relationships" id="267" r:id="R978007f9dc064b17"/>
    <p:sldId xmlns:r="http://schemas.openxmlformats.org/officeDocument/2006/relationships" id="268" r:id="R3c096cac75f140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114672ed9e4b2c" /><Relationship Type="http://schemas.openxmlformats.org/officeDocument/2006/relationships/slideMaster" Target="/ppt/slideMasters/slideMaster1.xml" Id="Rf174e4b225cf4283" /><Relationship Type="http://schemas.openxmlformats.org/officeDocument/2006/relationships/notesMaster" Target="/ppt/notesMasters/notesMaster1.xml" Id="R70bdac0a05a54c6c" /><Relationship Type="http://schemas.openxmlformats.org/officeDocument/2006/relationships/presProps" Target="/ppt/presProps.xml" Id="R5b4bb7ed81d84fe6" /><Relationship Type="http://schemas.openxmlformats.org/officeDocument/2006/relationships/tableStyles" Target="/ppt/tableStyles.xml" Id="Rac65a1f91cbd4bfe" /><Relationship Type="http://schemas.openxmlformats.org/officeDocument/2006/relationships/slide" Target="/ppt/slides/slide1.xml" Id="Rbe58da2b5b2d4067" /><Relationship Type="http://schemas.openxmlformats.org/officeDocument/2006/relationships/slide" Target="/ppt/slides/slide2.xml" Id="Rafd89f7b87474059" /><Relationship Type="http://schemas.openxmlformats.org/officeDocument/2006/relationships/slide" Target="/ppt/slides/slide3.xml" Id="R195a4354cd494fa9" /><Relationship Type="http://schemas.openxmlformats.org/officeDocument/2006/relationships/slide" Target="/ppt/slides/slide4.xml" Id="Rcf15e413812e4434" /><Relationship Type="http://schemas.openxmlformats.org/officeDocument/2006/relationships/slide" Target="/ppt/slides/slide5.xml" Id="Rd7289ae521a54173" /><Relationship Type="http://schemas.openxmlformats.org/officeDocument/2006/relationships/slide" Target="/ppt/slides/slide6.xml" Id="Rf1dc2c0a987d4bcc" /><Relationship Type="http://schemas.openxmlformats.org/officeDocument/2006/relationships/slide" Target="/ppt/slides/slide7.xml" Id="Ra0b5ffc5ab06461e" /><Relationship Type="http://schemas.openxmlformats.org/officeDocument/2006/relationships/slide" Target="/ppt/slides/slide8.xml" Id="Raf84e70c01f34baf" /><Relationship Type="http://schemas.openxmlformats.org/officeDocument/2006/relationships/slide" Target="/ppt/slides/slide9.xml" Id="R18dfae837995417d" /><Relationship Type="http://schemas.openxmlformats.org/officeDocument/2006/relationships/slide" Target="/ppt/slides/slide10.xml" Id="R34bd665d9de04d03" /><Relationship Type="http://schemas.openxmlformats.org/officeDocument/2006/relationships/slide" Target="/ppt/slides/slide11.xml" Id="R73d659385c174b99" /><Relationship Type="http://schemas.openxmlformats.org/officeDocument/2006/relationships/slide" Target="/ppt/slides/slide12.xml" Id="R978007f9dc064b17" /><Relationship Type="http://schemas.openxmlformats.org/officeDocument/2006/relationships/slide" Target="/ppt/slides/slide13.xml" Id="R3c096cac75f140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bafe967d4843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ddb919f19a40c6" /><Relationship Type="http://schemas.openxmlformats.org/officeDocument/2006/relationships/notesMaster" Target="/ppt/notesMasters/notesMaster1.xml" Id="Rb54d318256254a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4561fbdb934607" /><Relationship Type="http://schemas.openxmlformats.org/officeDocument/2006/relationships/notesMaster" Target="/ppt/notesMasters/notesMaster1.xml" Id="Rda369f74711a4f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71111d06c446c2" /><Relationship Type="http://schemas.openxmlformats.org/officeDocument/2006/relationships/notesMaster" Target="/ppt/notesMasters/notesMaster1.xml" Id="Re4d6a4778f3b4b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40be716b634ec6" /><Relationship Type="http://schemas.openxmlformats.org/officeDocument/2006/relationships/notesMaster" Target="/ppt/notesMasters/notesMaster1.xml" Id="Rb79123ecdf7b48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4a7672829e47a3" /><Relationship Type="http://schemas.openxmlformats.org/officeDocument/2006/relationships/notesMaster" Target="/ppt/notesMasters/notesMaster1.xml" Id="R8baf44968bf947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fd4f36f5ba49d1" /><Relationship Type="http://schemas.openxmlformats.org/officeDocument/2006/relationships/notesMaster" Target="/ppt/notesMasters/notesMaster1.xml" Id="R3b3a0757a8e442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c74bc89bee4846" /><Relationship Type="http://schemas.openxmlformats.org/officeDocument/2006/relationships/notesMaster" Target="/ppt/notesMasters/notesMaster1.xml" Id="Rc2039c04ebf84b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d89d1dbb8e408d" /><Relationship Type="http://schemas.openxmlformats.org/officeDocument/2006/relationships/notesMaster" Target="/ppt/notesMasters/notesMaster1.xml" Id="R6a77b9799c4b49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e69171e4ac4ec1" /><Relationship Type="http://schemas.openxmlformats.org/officeDocument/2006/relationships/notesMaster" Target="/ppt/notesMasters/notesMaster1.xml" Id="R948152eaea7042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cf690d55ea4312" /><Relationship Type="http://schemas.openxmlformats.org/officeDocument/2006/relationships/notesMaster" Target="/ppt/notesMasters/notesMaster1.xml" Id="R7a2ff432041345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fcc6c47da347ef" /><Relationship Type="http://schemas.openxmlformats.org/officeDocument/2006/relationships/notesMaster" Target="/ppt/notesMasters/notesMaster1.xml" Id="R81932f4b393f41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81714a7a794b17" /><Relationship Type="http://schemas.openxmlformats.org/officeDocument/2006/relationships/notesMaster" Target="/ppt/notesMasters/notesMaster1.xml" Id="R3d7b57235a1547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ac62cf1e8a480d" /><Relationship Type="http://schemas.openxmlformats.org/officeDocument/2006/relationships/notesMaster" Target="/ppt/notesMasters/notesMaster1.xml" Id="R5466b396b7fb49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Welcome: Thank you for joining us today.</a:t>
            </a:r>
          </a:p>
          <a:p xmlns:a="http://schemas.openxmlformats.org/drawingml/2006/main">
            <a:r>
              <a:t>2. Introduction: Jinmo Koo / HIGHST Urology, Korea</a:t>
            </a:r>
          </a:p>
          <a:p xmlns:a="http://schemas.openxmlformats.org/drawingml/2006/main">
            <a:r>
              <a:t>3. Topic: MegaDerm penile augmentation</a:t>
            </a:r>
          </a:p>
          <a:p xmlns:a="http://schemas.openxmlformats.org/drawingml/2006/main">
            <a:r>
              <a:t>4. Today’s focus: Preoperative evaluation / surgical videos / complications / postoperative care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First, let me briefly introduce myself.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Jinmo Koo, HIGHST Urology. Vietnam MegaDerm Webinar, 21 October 2026. Portrait supplied by HIGHST. Brand reference: https://www.highsturology.co.kr/v2/proud/doctor.php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Education: Korea University College of Medicine</a:t>
            </a:r>
          </a:p>
          <a:p xmlns:a="http://schemas.openxmlformats.org/drawingml/2006/main">
            <a:r>
              <a:t>2. Current role: Chief Director, HIGHST Urology</a:t>
            </a:r>
          </a:p>
          <a:p xmlns:a="http://schemas.openxmlformats.org/drawingml/2006/main">
            <a:r>
              <a:t>3. Clinical background: Former Chief Director, PROUD Urology / adjunct professor, Ewha Mokdong Hospital</a:t>
            </a:r>
          </a:p>
          <a:p xmlns:a="http://schemas.openxmlformats.org/drawingml/2006/main">
            <a:r>
              <a:t>4. Training: Erectile dysfunction training at UCI / international training and designated physician roles</a:t>
            </a:r>
          </a:p>
          <a:p xmlns:a="http://schemas.openxmlformats.org/drawingml/2006/main">
            <a:r>
              <a:t>5. Recognition: 2024 Outstanding Presentation Award, Taiwan Andrology Association</a:t>
            </a:r>
          </a:p>
          <a:p xmlns:a="http://schemas.openxmlformats.org/drawingml/2006/main">
            <a:r>
              <a:t>6. Professional societies: Korean Urological Association / ISSM / APSSM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Let’s begin with the materials: MegaDerm and MegaFill.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Jinmo Koo, HIGHST Urology.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Education</a:t>
            </a:r>
          </a:p>
          <a:p xmlns:a="http://schemas.openxmlformats.org/drawingml/2006/main">
            <a:r>
              <a:t>Graduated from Korea University College of Medicine.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Clinical and academic appointments</a:t>
            </a:r>
          </a:p>
          <a:p xmlns:a="http://schemas.openxmlformats.org/drawingml/2006/main">
            <a:r>
              <a:t>Current Chief Director, HIGHST Urology.</a:t>
            </a:r>
          </a:p>
          <a:p xmlns:a="http://schemas.openxmlformats.org/drawingml/2006/main">
            <a:r>
              <a:t>Former Chief Director, PROUD Urology.</a:t>
            </a:r>
          </a:p>
          <a:p xmlns:a="http://schemas.openxmlformats.org/drawingml/2006/main">
            <a:r>
              <a:t>Adjunct Professor of Urology, Ewha Womans University Mokdong Hospital.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Training, appointments and recognition</a:t>
            </a:r>
          </a:p>
          <a:p xmlns:a="http://schemas.openxmlformats.org/drawingml/2006/main">
            <a:r>
              <a:t>Completed erectile dysfunction training at UCI, USA.</a:t>
            </a:r>
          </a:p>
          <a:p xmlns:a="http://schemas.openxmlformats.org/drawingml/2006/main">
            <a:r>
              <a:t>Coloplast Reference Doctor.</a:t>
            </a:r>
          </a:p>
          <a:p xmlns:a="http://schemas.openxmlformats.org/drawingml/2006/main">
            <a:r>
              <a:t>Designated physician, Boston Scientific Center of Education.</a:t>
            </a:r>
          </a:p>
          <a:p xmlns:a="http://schemas.openxmlformats.org/drawingml/2006/main">
            <a:r>
              <a:t>Designated physician, Boston Scientific Center of Excellence.</a:t>
            </a:r>
          </a:p>
          <a:p xmlns:a="http://schemas.openxmlformats.org/drawingml/2006/main">
            <a:r>
              <a:t>Rigicon Certificate of Recognition.</a:t>
            </a:r>
          </a:p>
          <a:p xmlns:a="http://schemas.openxmlformats.org/drawingml/2006/main">
            <a:r>
              <a:t>Designated physician, Litemed Training Center.</a:t>
            </a:r>
          </a:p>
          <a:p xmlns:a="http://schemas.openxmlformats.org/drawingml/2006/main">
            <a:r>
              <a:t>Designated physician, Hsing-Chi Training Center.</a:t>
            </a:r>
          </a:p>
          <a:p xmlns:a="http://schemas.openxmlformats.org/drawingml/2006/main">
            <a:r>
              <a:t>Officially appointed consultant for international training, L&amp;C Bio.</a:t>
            </a:r>
          </a:p>
          <a:p xmlns:a="http://schemas.openxmlformats.org/drawingml/2006/main">
            <a:r>
              <a:t>Outstanding Presentation Award, Taiwan Andrology Association (TAA), 2024.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member of the Korean Urological Association, International Society for Sexual Medicine and Asia Pacific Society for Sexual Medicine.</a:t>
            </a:r>
          </a:p>
          <a:p xmlns:a="http://schemas.openxmlformats.org/drawingml/2006/main">
            <a:r>
              <a:t>Portrait supplied by HIGHST.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https://www.highsturology.co.kr/v2/proud/doctor.php</a:t>
            </a:r>
          </a:p>
          <a:p xmlns:a="http://schemas.openxmlformats.org/drawingml/2006/main">
            <a:r>
              <a:t>https://www.issm.info/public/about/vision-and-mission</a:t>
            </a:r>
          </a:p>
          <a:p xmlns:a="http://schemas.openxmlformats.org/drawingml/2006/main">
            <a:r>
              <a:t>https://apssm.asia/</a:t>
            </a:r>
          </a:p>
          <a:p xmlns:a="http://schemas.openxmlformats.org/drawingml/2006/main">
            <a:r>
              <a:t>https://uroweb.org/education-events/78th-annual-meeting-of-the-korean-urological-association-kua-2026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MegaDerm: Sheet acellular dermal matrix</a:t>
            </a:r>
          </a:p>
          <a:p xmlns:a="http://schemas.openxmlformats.org/drawingml/2006/main">
            <a:r>
              <a:t>2. Two types: Hydrated / freeze-dried</a:t>
            </a:r>
          </a:p>
          <a:p xmlns:a="http://schemas.openxmlformats.org/drawingml/2006/main">
            <a:r>
              <a:t>3. Our stock: 3–5 mm thick / 5 × 6, 5 × 8, 5 × 10, 6 × 12 cm</a:t>
            </a:r>
          </a:p>
          <a:p xmlns:a="http://schemas.openxmlformats.org/drawingml/2006/main">
            <a:r>
              <a:t>4. MegaFill: Micronized acellular dermal matrix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Next, I’ll go through our preoperative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MegaDerm is a sheet acellular dermal matrix. HIGHST stocks hydrated and freeze-dried types. The stated thickness and sizes describe HIGHST's inventory. MegaFill is a micronized form of acellular dermal matrix. The photograph is supplied by HIGHST. Individual packages are not assigned type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https://lncbio.co.kr/theme/basic/images/L%26CBIO_catalog.pdf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Questionnaires: IIEF: erectile function / PEDT: premature ejaculation</a:t>
            </a:r>
          </a:p>
          <a:p xmlns:a="http://schemas.openxmlformats.org/drawingml/2006/main">
            <a:r>
              <a:t>2. Blood tests: Coagulation: PT/PTT / TTT: testosterone / CBC / PSA / blood glucose: BST/HbA1c</a:t>
            </a:r>
          </a:p>
          <a:p xmlns:a="http://schemas.openxmlformats.org/drawingml/2006/main">
            <a:r>
              <a:t>3. Screening: HIV / syphilis / urine testing / liver enzymes: GOT/GPT/GGT / inflammatory markers</a:t>
            </a:r>
          </a:p>
          <a:p xmlns:a="http://schemas.openxmlformats.org/drawingml/2006/main">
            <a:r>
              <a:t>4. Physical examination: Penile length: flaccid and stretched</a:t>
            </a:r>
          </a:p>
          <a:p xmlns:a="http://schemas.openxmlformats.org/drawingml/2006/main">
            <a:r>
              <a:t>5. Sensitivity: Penile biothesiometry / vibration perception threshold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With the evaluation complete, let’s move on to surgical preparation.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Preoperative assessment at HIGHST includes IIEF and PEDT questionnaires, flaccid and stretched penile length measurement, and penile biothesiometry.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Laboratory tests</a:t>
            </a:r>
          </a:p>
          <a:p xmlns:a="http://schemas.openxmlformats.org/drawingml/2006/main">
            <a:r>
              <a:t>Blood coagulation tests (PT/PTT)</a:t>
            </a:r>
          </a:p>
          <a:p xmlns:a="http://schemas.openxmlformats.org/drawingml/2006/main">
            <a:r>
              <a:t>TTT (testosterone)</a:t>
            </a:r>
          </a:p>
          <a:p xmlns:a="http://schemas.openxmlformats.org/drawingml/2006/main">
            <a:r>
              <a:t>Complete blood count (CBC)</a:t>
            </a:r>
          </a:p>
          <a:p xmlns:a="http://schemas.openxmlformats.org/drawingml/2006/main">
            <a:r>
              <a:t>Prostate-specific antigen (PSA)</a:t>
            </a:r>
          </a:p>
          <a:p xmlns:a="http://schemas.openxmlformats.org/drawingml/2006/main">
            <a:r>
              <a:t>Blood glucose (BST/HbA1c)</a:t>
            </a:r>
          </a:p>
          <a:p xmlns:a="http://schemas.openxmlformats.org/drawingml/2006/main">
            <a:r>
              <a:t>HIV testing</a:t>
            </a:r>
          </a:p>
          <a:p xmlns:a="http://schemas.openxmlformats.org/drawingml/2006/main">
            <a:r>
              <a:t>Syphilis testing</a:t>
            </a:r>
          </a:p>
          <a:p xmlns:a="http://schemas.openxmlformats.org/drawingml/2006/main">
            <a:r>
              <a:t>Urine testing</a:t>
            </a:r>
          </a:p>
          <a:p xmlns:a="http://schemas.openxmlformats.org/drawingml/2006/main">
            <a:r>
              <a:t>Liver enzymes (GOT/GPT/GGT)</a:t>
            </a:r>
          </a:p>
          <a:p xmlns:a="http://schemas.openxmlformats.org/drawingml/2006/main">
            <a:r>
              <a:t>Inflammatory markers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HbA1c denotes glycated hemoglobin and appears under the blood glucose heading.</a:t>
            </a:r>
          </a:p>
          <a:p xmlns:a="http://schemas.openxmlformats.org/drawingml/2006/main">
            <a:r>
              <a:t>Sources: https://pubmed.ncbi.nlm.nih.gov/9187685/ ; https://pubmed.ncbi.nlm.nih.gov/17568761/ ; https://www.niddk.nih.gov/health-information/diagnostic-tests/a1c-test/ ; https://pubmed.ncbi.nlm.nih.gov/28874780/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Preparation: Shaving and draping</a:t>
            </a:r>
          </a:p>
          <a:p xmlns:a="http://schemas.openxmlformats.org/drawingml/2006/main">
            <a:r>
              <a:t>2. Shaving: Preparation area shown in the video</a:t>
            </a:r>
          </a:p>
          <a:p xmlns:a="http://schemas.openxmlformats.org/drawingml/2006/main">
            <a:r>
              <a:t>3. Draping: Sequence shown in the video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Now, let’s look at the first case: a pubic incision.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Shaving and draping.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Case 1: Pubic incision</a:t>
            </a:r>
          </a:p>
          <a:p xmlns:a="http://schemas.openxmlformats.org/drawingml/2006/main">
            <a:r>
              <a:t>2. Case introduction: Clinical background / choice of incision</a:t>
            </a:r>
          </a:p>
          <a:p xmlns:a="http://schemas.openxmlformats.org/drawingml/2006/main">
            <a:r>
              <a:t>3. Video walkthrough: Incision / key operative stages</a:t>
            </a:r>
          </a:p>
          <a:p xmlns:a="http://schemas.openxmlformats.org/drawingml/2006/main">
            <a:r>
              <a:t>4. Discussion: Main points from this case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The next case uses a circumcision-line incision.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Case 1: Pubic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Case 2: Circumcision-line incision</a:t>
            </a:r>
          </a:p>
          <a:p xmlns:a="http://schemas.openxmlformats.org/drawingml/2006/main">
            <a:r>
              <a:t>2. Case introduction: Clinical background / choice of incision</a:t>
            </a:r>
          </a:p>
          <a:p xmlns:a="http://schemas.openxmlformats.org/drawingml/2006/main">
            <a:r>
              <a:t>3. Video walkthrough: Incision / key operative stages</a:t>
            </a:r>
          </a:p>
          <a:p xmlns:a="http://schemas.openxmlformats.org/drawingml/2006/main">
            <a:r>
              <a:t>4. Comparison: Points to compare with the pubic approach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Next, we’ll look at secondary dermal grafting.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Case 2: Circumcision-line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Case 3: Secondary dermal grafting</a:t>
            </a:r>
          </a:p>
          <a:p xmlns:a="http://schemas.openxmlformats.org/drawingml/2006/main">
            <a:r>
              <a:t>2. Background: Previous procedure / reason for a second graft</a:t>
            </a:r>
          </a:p>
          <a:p xmlns:a="http://schemas.openxmlformats.org/drawingml/2006/main">
            <a:r>
              <a:t>3. Video walkthrough: Key operative stages</a:t>
            </a:r>
          </a:p>
          <a:p xmlns:a="http://schemas.openxmlformats.org/drawingml/2006/main">
            <a:r>
              <a:t>4. Discussion: Main considerations in this case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Let’s move on to the revision surgery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Case 3: Secondary Dermal Grafting.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Case 4: Revision surgery</a:t>
            </a:r>
          </a:p>
          <a:p xmlns:a="http://schemas.openxmlformats.org/drawingml/2006/main">
            <a:r>
              <a:t>2. Background: Previous procedure / reason for revision</a:t>
            </a:r>
          </a:p>
          <a:p xmlns:a="http://schemas.openxmlformats.org/drawingml/2006/main">
            <a:r>
              <a:t>3. Video walkthrough: Operative findings / key stages</a:t>
            </a:r>
          </a:p>
          <a:p xmlns:a="http://schemas.openxmlformats.org/drawingml/2006/main">
            <a:r>
              <a:t>4. Discussion: Points to highlight in revision surgery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The final case focuses on contour step-off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Case 4: Revision Surgery.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Case 5: Contour step-off correction</a:t>
            </a:r>
          </a:p>
          <a:p xmlns:a="http://schemas.openxmlformats.org/drawingml/2006/main">
            <a:r>
              <a:t>2. Case introduction: Location of the contour concern</a:t>
            </a:r>
          </a:p>
          <a:p xmlns:a="http://schemas.openxmlformats.org/drawingml/2006/main">
            <a:r>
              <a:t>3. Video walkthrough: Correction shown in the video</a:t>
            </a:r>
          </a:p>
          <a:p xmlns:a="http://schemas.openxmlformats.org/drawingml/2006/main">
            <a:r>
              <a:t>4. Discussion: Main points from this case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After these cases, let’s review potential complications.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Case 5: Contour Step-off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Context: Published ADM literature / not HIGHST- or MegaDerm-specific outcome data</a:t>
            </a:r>
          </a:p>
          <a:p xmlns:a="http://schemas.openxmlformats.org/drawingml/2006/main">
            <a:r>
              <a:t>2. Bleeding and swelling: Hematoma / foreskin edema</a:t>
            </a:r>
          </a:p>
          <a:p xmlns:a="http://schemas.openxmlformats.org/drawingml/2006/main">
            <a:r>
              <a:t>3. Wound complications: Delayed healing / infection / skin necrosis</a:t>
            </a:r>
          </a:p>
          <a:p xmlns:a="http://schemas.openxmlformats.org/drawingml/2006/main">
            <a:r>
              <a:t>4. Contour and discomfort: Graft contour irregularity / discomfort during erection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Finally, I’ll discuss postoperative care and dressing.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These categories are reported in published ADM augmentation literature. They do not represent HIGHST or MegaDerm-specific outcome data. No incidence rates are extrapolated to HIGHST.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https://pubmed.ncbi.nlm.nih.gov/31420614/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Postoperative care: Main instructions to explain</a:t>
            </a:r>
          </a:p>
          <a:p xmlns:a="http://schemas.openxmlformats.org/drawingml/2006/main">
            <a:r>
              <a:t>2. Dressing: Sequence shown in the video</a:t>
            </a:r>
          </a:p>
          <a:p xmlns:a="http://schemas.openxmlformats.org/drawingml/2006/main">
            <a:r>
              <a:t>3. Follow-up: Points to discuss with the patient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Thank you for your attention. I’m happy to take your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Postoperative care and dressing technique.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speaker cues</a:t>
            </a:r>
          </a:p>
          <a:p xmlns:a="http://schemas.openxmlformats.org/drawingml/2006/main">
            <a:r>
              <a:t>1. Thank you: Thank you for your time and attention.</a:t>
            </a:r>
          </a:p>
          <a:p xmlns:a="http://schemas.openxmlformats.org/drawingml/2006/main">
            <a:r>
              <a:t>2. Questions: I’d be happy to discuss your questions.</a:t>
            </a:r>
          </a:p>
          <a:p xmlns:a="http://schemas.openxmlformats.org/drawingml/2006/main">
            <a:r>
              <a:t>3. Clarify: Could you please repeat or clarify the question?</a:t>
            </a:r>
          </a:p>
          <a:p xmlns:a="http://schemas.openxmlformats.org/drawingml/2006/main">
            <a:r>
              <a:t>4. Close: Thank you for the discussion.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 notes</a:t>
            </a:r>
          </a:p>
          <a:p xmlns:a="http://schemas.openxmlformats.org/drawingml/2006/main">
            <a:r>
              <a:t>Thank you.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2bce2040248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02dcd585294d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4f21a13d4140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aae66f6bd485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f511c7a26641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f8ffa0619146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C6096E-E675-4380-B15A-048DD894C1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D2D398-B998-4049-B67B-A1C56877972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94B1434-F3C9-4B68-BFB4-FD8F4C17A4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0B1DB4-5880-4901-AEB5-A0D182AE3E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700FADC-1DA2-4DC4-A14A-D41D2ECAAA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D072A85-2F9A-46FB-8E94-C805E047E7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B9D404-A29F-4355-935F-DAD68C0FF9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16575E4-2548-43E1-BC38-C5B844EEA2A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5FC2AC-46E1-47D9-BBB5-4D0FB235D2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D3A1C0-EA1A-4D31-8D61-D46F6D32F1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b6319eea584fff" /><Relationship Type="http://schemas.openxmlformats.org/officeDocument/2006/relationships/slideLayout" Target="/ppt/slideLayouts/slideLayout1.xml" Id="Rd19d98a4e9574cd8" /><Relationship Type="http://schemas.openxmlformats.org/officeDocument/2006/relationships/slideLayout" Target="/ppt/slideLayouts/slideLayout2.xml" Id="Rd89c8810b2a84e08" /><Relationship Type="http://schemas.openxmlformats.org/officeDocument/2006/relationships/slideLayout" Target="/ppt/slideLayouts/slideLayout3.xml" Id="Re3a7eb4a41ae4188" /><Relationship Type="http://schemas.openxmlformats.org/officeDocument/2006/relationships/slideLayout" Target="/ppt/slideLayouts/slideLayout4.xml" Id="R6d7986affa2b4985" /><Relationship Type="http://schemas.openxmlformats.org/officeDocument/2006/relationships/slideLayout" Target="/ppt/slideLayouts/slideLayout5.xml" Id="Rcbab3b194cf04a45" /><Relationship Type="http://schemas.openxmlformats.org/officeDocument/2006/relationships/slideLayout" Target="/ppt/slideLayouts/slideLayout6.xml" Id="R1bb94d15d9b047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9d98a4e9574cd8"/>
    <p:sldLayoutId xmlns:r="http://schemas.openxmlformats.org/officeDocument/2006/relationships" id="2147483650" r:id="Rd89c8810b2a84e08"/>
    <p:sldLayoutId xmlns:r="http://schemas.openxmlformats.org/officeDocument/2006/relationships" id="2147483651" r:id="Re3a7eb4a41ae4188"/>
    <p:sldLayoutId xmlns:r="http://schemas.openxmlformats.org/officeDocument/2006/relationships" id="2147483652" r:id="R6d7986affa2b4985"/>
    <p:sldLayoutId xmlns:r="http://schemas.openxmlformats.org/officeDocument/2006/relationships" id="2147483653" r:id="Rcbab3b194cf04a45"/>
    <p:sldLayoutId xmlns:r="http://schemas.openxmlformats.org/officeDocument/2006/relationships" id="2147483654" r:id="R1bb94d15d9b047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2588afd3ac41af" /><Relationship Type="http://schemas.openxmlformats.org/officeDocument/2006/relationships/image" Target="/ppt/media/image.png" Id="Rcb30f71bcb7d405e" /><Relationship Type="http://schemas.openxmlformats.org/officeDocument/2006/relationships/image" Target="/ppt/media/image2.png" Id="Rc6123dde08094660" /><Relationship Type="http://schemas.openxmlformats.org/officeDocument/2006/relationships/notesSlide" Target="/ppt/notesSlides/notesSlide1.xml" Id="Rcec3d6561ec943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ee6f80e07f40ab" /><Relationship Type="http://schemas.openxmlformats.org/officeDocument/2006/relationships/image" Target="/ppt/media/image3.png" Id="R02e8748aff6a41f3" /><Relationship Type="http://schemas.openxmlformats.org/officeDocument/2006/relationships/image" Target="/ppt/media/image4.png" Id="R7dfe56bdcf744814" /><Relationship Type="http://schemas.openxmlformats.org/officeDocument/2006/relationships/notesSlide" Target="/ppt/notesSlides/notesSlide2.xml" Id="R7ca35fb872b446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6cc79dc1124287" /><Relationship Type="http://schemas.openxmlformats.org/officeDocument/2006/relationships/image" Target="/ppt/media/image5.png" Id="Rea2ca80944844ecd" /><Relationship Type="http://schemas.openxmlformats.org/officeDocument/2006/relationships/image" Target="/ppt/media/image6.png" Id="R78d509a739164644" /><Relationship Type="http://schemas.openxmlformats.org/officeDocument/2006/relationships/notesSlide" Target="/ppt/notesSlides/notesSlide3.xml" Id="R0e4a01de9f724f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20b678242e461e" /><Relationship Type="http://schemas.openxmlformats.org/officeDocument/2006/relationships/image" Target="/ppt/media/image7.png" Id="Rbba9081c54554a87" /><Relationship Type="http://schemas.openxmlformats.org/officeDocument/2006/relationships/notesSlide" Target="/ppt/notesSlides/notesSlide4.xml" Id="R2c280f2c1a5941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8bc8d5f2b24c94" /><Relationship Type="http://schemas.openxmlformats.org/officeDocument/2006/relationships/image" Target="/ppt/media/image8.png" Id="R82245ccac42848b4" /><Relationship Type="http://schemas.openxmlformats.org/officeDocument/2006/relationships/notesSlide" Target="/ppt/notesSlides/notesSlide5.xml" Id="R2c3752e60cce47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f36cf309864ee4" /><Relationship Type="http://schemas.openxmlformats.org/officeDocument/2006/relationships/image" Target="/ppt/media/image9.png" Id="R7361408f9a654f87" /><Relationship Type="http://schemas.openxmlformats.org/officeDocument/2006/relationships/notesSlide" Target="/ppt/notesSlides/notesSlide6.xml" Id="Rb1d2795a924d46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1adae2ed384411" /><Relationship Type="http://schemas.openxmlformats.org/officeDocument/2006/relationships/image" Target="/ppt/media/image10.png" Id="Rf84f5926fd584d12" /><Relationship Type="http://schemas.openxmlformats.org/officeDocument/2006/relationships/notesSlide" Target="/ppt/notesSlides/notesSlide7.xml" Id="R8005a671d6c049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71426a8dd64981" /><Relationship Type="http://schemas.openxmlformats.org/officeDocument/2006/relationships/image" Target="/ppt/media/image11.png" Id="Rf8b0d752d97c42c2" /><Relationship Type="http://schemas.openxmlformats.org/officeDocument/2006/relationships/notesSlide" Target="/ppt/notesSlides/notesSlide8.xml" Id="Rb5c7e5850d704b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c64a872f814bff" /><Relationship Type="http://schemas.openxmlformats.org/officeDocument/2006/relationships/image" Target="/ppt/media/image12.png" Id="R8e8f5a2ce3b44bf3" /><Relationship Type="http://schemas.openxmlformats.org/officeDocument/2006/relationships/notesSlide" Target="/ppt/notesSlides/notesSlide9.xml" Id="Raf140af133b744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cfdd0b143d4192" /><Relationship Type="http://schemas.openxmlformats.org/officeDocument/2006/relationships/image" Target="/ppt/media/image13.png" Id="Ra08f033cecff44b9" /><Relationship Type="http://schemas.openxmlformats.org/officeDocument/2006/relationships/notesSlide" Target="/ppt/notesSlides/notesSlide10.xml" Id="Rbae0b29c7f4b4c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e6f9dfa51a4156" /><Relationship Type="http://schemas.openxmlformats.org/officeDocument/2006/relationships/image" Target="/ppt/media/image14.png" Id="Rfc687dbf8e9b4b20" /><Relationship Type="http://schemas.openxmlformats.org/officeDocument/2006/relationships/notesSlide" Target="/ppt/notesSlides/notesSlide11.xml" Id="R8a2d3244cbbb48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0eee95db9a4fa6" /><Relationship Type="http://schemas.openxmlformats.org/officeDocument/2006/relationships/image" Target="/ppt/media/image15.png" Id="Rfdad506937c64a19" /><Relationship Type="http://schemas.openxmlformats.org/officeDocument/2006/relationships/notesSlide" Target="/ppt/notesSlides/notesSlide12.xml" Id="R6f47fff6c0bb406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c7757744904539" /><Relationship Type="http://schemas.openxmlformats.org/officeDocument/2006/relationships/image" Target="/ppt/media/image16.png" Id="R65837f39e4014c10" /><Relationship Type="http://schemas.openxmlformats.org/officeDocument/2006/relationships/notesSlide" Target="/ppt/notesSlides/notesSlide13.xml" Id="Re108038d400144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7E1F0-1CD4-4D5D-9CBC-BB90E5818A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0f71bcb7d405e"/>
          <a:stretch xmlns:a="http://schemas.openxmlformats.org/drawingml/2006/main"/>
        </p:blipFill>
        <p:spPr>
          <a:xfrm xmlns:a="http://schemas.openxmlformats.org/drawingml/2006/main">
            <a:off x="693275" y="609600"/>
            <a:ext cx="1813850" cy="51435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B56E4-2F35-441F-A096-F3F3F30F9F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23dde08094660"/>
          <a:srcRect xmlns:a="http://schemas.openxmlformats.org/drawingml/2006/main" l="33753" t="0" r="337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609600"/>
            <a:ext cx="3257550" cy="5638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0AC53-D362-4FEC-A254-0DB0D689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BEFA5-8A15-4B5C-9D6B-9D9213F9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702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D55EA-F3A9-4D9A-880C-F4102DBD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708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4CA6E-364A-4D94-8D09-04E7E045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702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Clinical cases and perioperative 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8D874-585A-4AF1-A337-0386EEA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702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3DB93-CD5C-4ED8-80BE-65DCD50D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702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F4DDB-91D3-4CA8-9903-C11AA20E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772130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342B41-EBE2-4773-B2BE-6403EA4675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8748aff6a41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14350"/>
            <a:ext cx="1000125" cy="1285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A2F6C-0D2A-41F7-B8A9-2F58A52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2450"/>
            <a:ext cx="7296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DFB93-5309-4A24-8241-EAB75EBE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7296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62C32-F4A2-4162-B8E4-3A1E957E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09725"/>
            <a:ext cx="7296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Graduate, Korea University College of Medicine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8F407-959B-4438-ADBC-0BCF390A0C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e56bdcf744814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6D479-6B72-4118-B145-F4AC6F6D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38CE9-DE1D-48C8-8E2E-22F8F4B1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Clinical &amp; academic appointments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3C0F5-8783-4E51-90AB-8FDA80A3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Chief Director, HIGHST Urology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4823E-6519-416F-A38B-44AE0566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Former Chief Director, PROUD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722C97-D291-4291-A178-8AF13229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Adjunct Professor of Urology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1BEE3-0649-4CD7-8509-A0ECA447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Ewha Womans University Mokdong Hospital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25F3D8-BED8-4031-AE87-A5377D8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Professional memberships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AC4E39-A5AF-4274-BD95-0B42AD0B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Korean Urological Association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01C22-FF19-4046-A1CC-52A2E45F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International Society for Sexual Medicine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25EAB-976D-4629-8A8A-7C3C2BD0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Asia Pacific Society for Sexual Medicine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EBADD-7DD2-43D7-9875-DF118EB2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03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Training, appointments &amp; recognition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31FA3-B7FE-4378-BB22-BCA7A4AF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289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UCI, USA: Erectile dysfunction 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526C3-7CCC-48EA-8B72-9646B567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718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Coloplast Reference Doctor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D46E8E-283B-4C12-AEF8-B7B7B796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147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Boston Scientific designated physician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2A519-7A3A-4E77-A9FB-9D553398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814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Center of Education / Center of Excellence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AB77B3-B1B2-4FAF-99B3-C0050E8D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243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Rigicon Certificate of Recognition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FECC2C-FEA9-4248-AF48-C14A091F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72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Litemed / Hsing-Chi Training Center physician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D014AE-29AF-460F-B326-A86EEB28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101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L&amp;C Bio international training consultant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D7B6D7-FD9B-421E-A15E-A9408C10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9590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Outstanding Presentation Award (2024)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F3F7E7-399A-4877-905C-89E01E94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6260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Taiwan Andrology Association (TAA)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3352B4-A759-408A-B466-A24BAE94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9BA2D2-EE6F-4C9C-8B60-CCF3BB8E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301148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B460E-23BA-443B-B96C-78BAF579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 &amp; MegaFill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0FEBC-5F59-4461-A09C-1F475AA5CB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2ca80944844ecd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F9CDD-8B66-421F-A6CF-529744B0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DB3B7-2788-469D-B235-9C8C55FF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A7C24-F914-4A26-817F-A0B26063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Acellular dermal matrix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5C206-34D5-4D8E-A77D-32C41D4F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Hydrated / Freeze-dried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5CD8F-25F0-44CA-9809-FC81679A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MegaFill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3C98A-F440-4EEB-B3A5-7B82D1CC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Micronized acellular dermal matrix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D4AA2-CFC6-4241-9C37-E2247D01A5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509a739164644"/>
          <a:stretch xmlns:a="http://schemas.openxmlformats.org/drawingml/2006/main"/>
        </p:blipFill>
        <p:spPr>
          <a:xfrm xmlns:a="http://schemas.openxmlformats.org/drawingml/2006/main">
            <a:off x="6172200" y="1999129"/>
            <a:ext cx="5334000" cy="301214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A5C54-A0CF-447F-99B7-F43F1D7B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MegaDerm stock at HIGHST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C01FD-BEA4-4537-97D0-598307F4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47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3–5 mm thick     5 × 6, 5 × 8, 5 × 10, 6 × 12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6B796-B7E7-4C71-AB03-8F6145B0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040C28-C012-4F6F-BA63-E70D4A98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193684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F3087A-EBF5-42E9-9E42-0A55CD71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Preoperative Evaluation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01F1F-963C-4CE6-A2AB-C4A62814BE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9081c54554a87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A961E-F221-4535-BC45-41002EA1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1B0539-B458-4A20-AFF0-8D10422D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Questionnaires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A240D-085A-4C5F-AA84-D67CAC23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IIEF / PEDT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2E65A-7BA5-4576-8DC9-BA372DA6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International Index of Erectile Function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4C3B5-1827-464D-993D-30EED6A9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Premature Ejaculation Diagnostic 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20F5C-40B4-4F99-963C-2F1C36FD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Physical examination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0DA49-BC08-4C81-AC67-486706D2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705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length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DD434-C599-4ECC-A6F0-EF89A7B6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70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Flaccid and stretched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34FC9-6886-43E5-A29F-389FFAA0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4705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biothesiometry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DFA93-057A-4347-849F-4D0600AF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470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Vibration perception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C09BC-04B9-4559-8F5A-1ADDEE7B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33550"/>
            <a:ext cx="9525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4EF11-E764-4DBC-A248-59782E0A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33550"/>
            <a:ext cx="5162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Laboratory 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46AFB0-748F-4818-A5DA-0AC1C64A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383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Blood coagulation tests (PT/PTT)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127D-5224-4988-81EC-F464098C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03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TTT (testosterone)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85DF0-7083-4683-8DDB-36E4D78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622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Complete blood count (CBC)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70D519-64A3-4420-8763-EC075D8C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242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Prostate-specific antigen (PSA)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48EAC8-A711-45FA-8D95-F16FEA68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861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Blood glucose (BST/HbA1c)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8C8ECC-E7D2-4AE6-BA76-773FDD53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481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HIV testing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FE3FAA-6786-46D1-A152-6DB09E89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100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Syphilis testing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E96B60-A34A-4F28-9930-59938805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720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Urine testing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C3EDF9-26AF-437C-99EF-CEDC79F0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339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Liver enzymes (GOT/GPT/GGT)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892F91-C133-4502-9E75-EF0A6426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4959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3DF740-109A-4633-887E-C589301D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7FEAD0-9BB7-4087-9437-BC1B1BEE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18050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F1DC7-0711-4FD8-8222-E755C521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Shaving and Draping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559EE-89AD-4476-8EE1-B2180305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Surgical Preparation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8407A-0E67-44DC-8298-5ABD475938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45ccac42848b4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BCE9A-4E69-4BA2-98A7-705C5956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997D5-4AB6-4172-8A7B-1F37BCF9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78242-349D-45E8-BDF6-E930311E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648264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D0742-AD12-4E59-A4AC-F5DCE09C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A5E4A-0A7B-406A-B212-4994C49C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E1D12-415C-49EA-8564-DE54F21B58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1408f9a654f87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0178B-BE7E-49E8-A596-21D046C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CB957-964D-40E8-9861-358265BE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9E2F8-813D-463B-971B-74CBBD6E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629629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B4C41-E973-4B04-82A8-7E787910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83EEA-D620-4C0E-973B-714571A4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21C21-92D0-4AF3-AEFE-32A680B94C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4f5926fd584d12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1E2C9-1B2F-4EEE-A561-4CB0B476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D8F1C-3430-4124-9CC1-A373707B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9E3DB-FD25-4058-AA93-D83D152C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30044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3B8CFE-AFAC-4F29-BAE2-22E42E93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3691A-77AB-415A-AC36-36728505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Secondary Dermal Grafting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0B87A-A315-446F-80F9-1AB3A3EC42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0d752d97c42c2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7166F-FAE2-491B-B7C1-9DB1CE2B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36035-198A-4DD5-956C-AA1AA059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42E1C-28E5-4F7B-83B9-9C679366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967145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38F70-727C-4F05-AA52-804227A1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034BC-B393-42B6-BBC2-6CCF0240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Revision Surgery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44830-DA4D-4636-83B9-149D9F68E3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f5a2ce3b44bf3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92244-DA3A-4CF9-8EBD-BA2FDA08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6CD87-9580-4ABB-AAB2-8688D99C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B2392-F8FE-46B6-BF4C-00BE773A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903574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B84374-0108-4269-BC3B-7146CF9A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A65675-A167-4367-85D7-AC6864AE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Contour Step-off Correction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A7D54-F4B9-4CA7-805D-B3EDAECF94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f033cecff44b9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844E3-8995-447A-BB2E-78ABAE1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8CFD7-62F8-4E9F-BE50-C44F0EE6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004F3-9460-4B27-9664-CB39D1A5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830491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825552-2A7F-4A93-9708-20354F35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Potential Complications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BFEE2-2E36-47A9-A6DC-5AC77C56A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87dbf8e9b4b20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904BA-09CF-4EFC-80AE-E6084129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ECCB0-1AB6-4A99-B400-8F0E96CA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Bleeding and swelling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979B5-68AA-4C8A-9180-D871AF60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Hematoma, foreskin edema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1F5DC-FBB7-43E5-A757-4834B85C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A1577-AC64-4BD4-9F52-BFBF3185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Wound complications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6AE67-4482-4AD8-921C-08CBE1E9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Delayed healing, infection, skin necrosis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1C33D-853D-4494-BF92-E378DEF1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6D1F9-B2F2-4EC9-8246-1072FF26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Contour and discomfort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746EE-D539-41FE-AF04-7CF075BA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Graft contour irregularity, discomfort during erection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EF028-D0BB-43A8-A843-741A3B31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Reported in ADM augmentation literature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A7FB0-60D6-459A-9F5D-86B1ED25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AC33E-5F60-4998-B48B-8E46E051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368854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66853-6D60-4E32-8F64-FE48E042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Dressing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1EB06E-1860-4523-B45A-7A51BEA3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Postoperative Care &amp; Dressing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45A8FC-B90A-4424-863F-602DF6FBDE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d506937c64a19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A793D-9449-4B3E-BAB3-1E266F50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0AD2D-BD20-4267-835A-3F3E09FE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03-6A3A-4D11-8304-A824E6B5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50610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A734B-4EF1-4212-BFC3-6534B097DF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37f39e4014c10"/>
          <a:stretch xmlns:a="http://schemas.openxmlformats.org/drawingml/2006/main"/>
        </p:blipFill>
        <p:spPr>
          <a:xfrm xmlns:a="http://schemas.openxmlformats.org/drawingml/2006/main">
            <a:off x="693275" y="609600"/>
            <a:ext cx="18138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D81E0-1EE7-46BD-B93B-43BCD74C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Questions &amp;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98739-72A2-492C-B6C4-E64E7547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02E21-F78F-43FE-A5B0-1A1E8DE7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E1972-224C-433B-869E-0267B84D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629110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2026-10-12T08:46:01.5850000Z</dcterms:created>
  <dcterms:modified xsi:type="dcterms:W3CDTF">2026-10-12T08:46:01.5850000Z</dcterms:modified>
</coreProperties>
</file>