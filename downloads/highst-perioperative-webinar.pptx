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42d6c32e6e04922" /><Relationship Type="http://schemas.openxmlformats.org/officeDocument/2006/relationships/extended-properties" Target="/docProps/app.xml" Id="R2eb0981d293b49c8" /><Relationship Type="http://schemas.openxmlformats.org/officeDocument/2006/relationships/officeDocument" Target="/ppt/presentation.xml" Id="Rd82a12adf9db488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f7f729b14f54e8c"/>
  </p:sldMasterIdLst>
  <p:notesMasterIdLst>
    <p:notesMasterId xmlns:r="http://schemas.openxmlformats.org/officeDocument/2006/relationships" r:id="R448e975925a54feb"/>
  </p:notesMasterIdLst>
  <p:sldIdLst>
    <p:sldId xmlns:r="http://schemas.openxmlformats.org/officeDocument/2006/relationships" id="256" r:id="R8413980713554c16"/>
    <p:sldId xmlns:r="http://schemas.openxmlformats.org/officeDocument/2006/relationships" id="257" r:id="R396d29490b824faa"/>
    <p:sldId xmlns:r="http://schemas.openxmlformats.org/officeDocument/2006/relationships" id="258" r:id="R5229d0b019b54b28"/>
    <p:sldId xmlns:r="http://schemas.openxmlformats.org/officeDocument/2006/relationships" id="259" r:id="Ra63c33f99dcb4ec8"/>
    <p:sldId xmlns:r="http://schemas.openxmlformats.org/officeDocument/2006/relationships" id="260" r:id="Rd077045fdb4246f2"/>
    <p:sldId xmlns:r="http://schemas.openxmlformats.org/officeDocument/2006/relationships" id="261" r:id="Rc2b054cfb58b427d"/>
    <p:sldId xmlns:r="http://schemas.openxmlformats.org/officeDocument/2006/relationships" id="262" r:id="Rbe9d153164574c78"/>
    <p:sldId xmlns:r="http://schemas.openxmlformats.org/officeDocument/2006/relationships" id="263" r:id="Re97fbddfbabe47fe"/>
    <p:sldId xmlns:r="http://schemas.openxmlformats.org/officeDocument/2006/relationships" id="264" r:id="Rfa188e2b2eea4c5c"/>
    <p:sldId xmlns:r="http://schemas.openxmlformats.org/officeDocument/2006/relationships" id="265" r:id="R9a5ef5b870e74e38"/>
    <p:sldId xmlns:r="http://schemas.openxmlformats.org/officeDocument/2006/relationships" id="266" r:id="Rae5eac1b9e3f4880"/>
    <p:sldId xmlns:r="http://schemas.openxmlformats.org/officeDocument/2006/relationships" id="267" r:id="R1c7f46e50ee1407a"/>
    <p:sldId xmlns:r="http://schemas.openxmlformats.org/officeDocument/2006/relationships" id="268" r:id="R94a72a60350449a2"/>
    <p:sldId xmlns:r="http://schemas.openxmlformats.org/officeDocument/2006/relationships" id="269" r:id="R344fa3fc431e44d1"/>
    <p:sldId xmlns:r="http://schemas.openxmlformats.org/officeDocument/2006/relationships" id="270" r:id="Rd5eec0f2f83b4bf7"/>
    <p:sldId xmlns:r="http://schemas.openxmlformats.org/officeDocument/2006/relationships" id="271" r:id="R50b349752b5c44b0"/>
    <p:sldId xmlns:r="http://schemas.openxmlformats.org/officeDocument/2006/relationships" id="272" r:id="R827548e85ef746d6"/>
    <p:sldId xmlns:r="http://schemas.openxmlformats.org/officeDocument/2006/relationships" id="273" r:id="Rbfd031ec5ba44ad1"/>
    <p:sldId xmlns:r="http://schemas.openxmlformats.org/officeDocument/2006/relationships" id="274" r:id="R5652ba283fec4837"/>
    <p:sldId xmlns:r="http://schemas.openxmlformats.org/officeDocument/2006/relationships" id="275" r:id="Rc9632ae211034274"/>
    <p:sldId xmlns:r="http://schemas.openxmlformats.org/officeDocument/2006/relationships" id="276" r:id="R687f351bc9284dc9"/>
    <p:sldId xmlns:r="http://schemas.openxmlformats.org/officeDocument/2006/relationships" id="277" r:id="R29ae72d5cd8a4cde"/>
    <p:sldId xmlns:r="http://schemas.openxmlformats.org/officeDocument/2006/relationships" id="278" r:id="R884fc3356aa84c30"/>
    <p:sldId xmlns:r="http://schemas.openxmlformats.org/officeDocument/2006/relationships" id="279" r:id="Re5423506a4e04a79"/>
    <p:sldId xmlns:r="http://schemas.openxmlformats.org/officeDocument/2006/relationships" id="280" r:id="R7d650e7cdef44725"/>
    <p:sldId xmlns:r="http://schemas.openxmlformats.org/officeDocument/2006/relationships" id="281" r:id="Rf67452a8cd67452e"/>
    <p:sldId xmlns:r="http://schemas.openxmlformats.org/officeDocument/2006/relationships" id="282" r:id="Rec73a542a6a14d67"/>
    <p:sldId xmlns:r="http://schemas.openxmlformats.org/officeDocument/2006/relationships" id="283" r:id="Ra56de0dba60944d3"/>
    <p:sldId xmlns:r="http://schemas.openxmlformats.org/officeDocument/2006/relationships" id="284" r:id="Rd4fb302cbe3840fa"/>
    <p:sldId xmlns:r="http://schemas.openxmlformats.org/officeDocument/2006/relationships" id="285" r:id="R6147d40ee296415e"/>
    <p:sldId xmlns:r="http://schemas.openxmlformats.org/officeDocument/2006/relationships" id="286" r:id="Rb70f5c4b94114a1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0393260e7e84403" /><Relationship Type="http://schemas.openxmlformats.org/officeDocument/2006/relationships/slideMaster" Target="/ppt/slideMasters/slideMaster1.xml" Id="Rff7f729b14f54e8c" /><Relationship Type="http://schemas.openxmlformats.org/officeDocument/2006/relationships/notesMaster" Target="/ppt/notesMasters/notesMaster1.xml" Id="R448e975925a54feb" /><Relationship Type="http://schemas.openxmlformats.org/officeDocument/2006/relationships/presProps" Target="/ppt/presProps.xml" Id="R0d62156c38644307" /><Relationship Type="http://schemas.openxmlformats.org/officeDocument/2006/relationships/tableStyles" Target="/ppt/tableStyles.xml" Id="Rb09764b934f94b61" /><Relationship Type="http://schemas.openxmlformats.org/officeDocument/2006/relationships/slide" Target="/ppt/slides/slide1.xml" Id="R8413980713554c16" /><Relationship Type="http://schemas.openxmlformats.org/officeDocument/2006/relationships/slide" Target="/ppt/slides/slide2.xml" Id="R396d29490b824faa" /><Relationship Type="http://schemas.openxmlformats.org/officeDocument/2006/relationships/slide" Target="/ppt/slides/slide3.xml" Id="R5229d0b019b54b28" /><Relationship Type="http://schemas.openxmlformats.org/officeDocument/2006/relationships/slide" Target="/ppt/slides/slide4.xml" Id="Ra63c33f99dcb4ec8" /><Relationship Type="http://schemas.openxmlformats.org/officeDocument/2006/relationships/slide" Target="/ppt/slides/slide5.xml" Id="Rd077045fdb4246f2" /><Relationship Type="http://schemas.openxmlformats.org/officeDocument/2006/relationships/slide" Target="/ppt/slides/slide6.xml" Id="Rc2b054cfb58b427d" /><Relationship Type="http://schemas.openxmlformats.org/officeDocument/2006/relationships/slide" Target="/ppt/slides/slide7.xml" Id="Rbe9d153164574c78" /><Relationship Type="http://schemas.openxmlformats.org/officeDocument/2006/relationships/slide" Target="/ppt/slides/slide8.xml" Id="Re97fbddfbabe47fe" /><Relationship Type="http://schemas.openxmlformats.org/officeDocument/2006/relationships/slide" Target="/ppt/slides/slide9.xml" Id="Rfa188e2b2eea4c5c" /><Relationship Type="http://schemas.openxmlformats.org/officeDocument/2006/relationships/slide" Target="/ppt/slides/slide10.xml" Id="R9a5ef5b870e74e38" /><Relationship Type="http://schemas.openxmlformats.org/officeDocument/2006/relationships/slide" Target="/ppt/slides/slide11.xml" Id="Rae5eac1b9e3f4880" /><Relationship Type="http://schemas.openxmlformats.org/officeDocument/2006/relationships/slide" Target="/ppt/slides/slide12.xml" Id="R1c7f46e50ee1407a" /><Relationship Type="http://schemas.openxmlformats.org/officeDocument/2006/relationships/slide" Target="/ppt/slides/slide13.xml" Id="R94a72a60350449a2" /><Relationship Type="http://schemas.openxmlformats.org/officeDocument/2006/relationships/slide" Target="/ppt/slides/slide14.xml" Id="R344fa3fc431e44d1" /><Relationship Type="http://schemas.openxmlformats.org/officeDocument/2006/relationships/slide" Target="/ppt/slides/slide15.xml" Id="Rd5eec0f2f83b4bf7" /><Relationship Type="http://schemas.openxmlformats.org/officeDocument/2006/relationships/slide" Target="/ppt/slides/slide16.xml" Id="R50b349752b5c44b0" /><Relationship Type="http://schemas.openxmlformats.org/officeDocument/2006/relationships/slide" Target="/ppt/slides/slide17.xml" Id="R827548e85ef746d6" /><Relationship Type="http://schemas.openxmlformats.org/officeDocument/2006/relationships/slide" Target="/ppt/slides/slide18.xml" Id="Rbfd031ec5ba44ad1" /><Relationship Type="http://schemas.openxmlformats.org/officeDocument/2006/relationships/slide" Target="/ppt/slides/slide19.xml" Id="R5652ba283fec4837" /><Relationship Type="http://schemas.openxmlformats.org/officeDocument/2006/relationships/slide" Target="/ppt/slides/slide20.xml" Id="Rc9632ae211034274" /><Relationship Type="http://schemas.openxmlformats.org/officeDocument/2006/relationships/slide" Target="/ppt/slides/slide21.xml" Id="R687f351bc9284dc9" /><Relationship Type="http://schemas.openxmlformats.org/officeDocument/2006/relationships/slide" Target="/ppt/slides/slide22.xml" Id="R29ae72d5cd8a4cde" /><Relationship Type="http://schemas.openxmlformats.org/officeDocument/2006/relationships/slide" Target="/ppt/slides/slide23.xml" Id="R884fc3356aa84c30" /><Relationship Type="http://schemas.openxmlformats.org/officeDocument/2006/relationships/slide" Target="/ppt/slides/slide24.xml" Id="Re5423506a4e04a79" /><Relationship Type="http://schemas.openxmlformats.org/officeDocument/2006/relationships/slide" Target="/ppt/slides/slide25.xml" Id="R7d650e7cdef44725" /><Relationship Type="http://schemas.openxmlformats.org/officeDocument/2006/relationships/slide" Target="/ppt/slides/slide26.xml" Id="Rf67452a8cd67452e" /><Relationship Type="http://schemas.openxmlformats.org/officeDocument/2006/relationships/slide" Target="/ppt/slides/slide27.xml" Id="Rec73a542a6a14d67" /><Relationship Type="http://schemas.openxmlformats.org/officeDocument/2006/relationships/slide" Target="/ppt/slides/slide28.xml" Id="Ra56de0dba60944d3" /><Relationship Type="http://schemas.openxmlformats.org/officeDocument/2006/relationships/slide" Target="/ppt/slides/slide29.xml" Id="Rd4fb302cbe3840fa" /><Relationship Type="http://schemas.openxmlformats.org/officeDocument/2006/relationships/slide" Target="/ppt/slides/slide30.xml" Id="R6147d40ee296415e" /><Relationship Type="http://schemas.openxmlformats.org/officeDocument/2006/relationships/slide" Target="/ppt/slides/slide31.xml" Id="Rb70f5c4b94114a1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d1827ff1653463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3004a0510f84b95" /><Relationship Type="http://schemas.openxmlformats.org/officeDocument/2006/relationships/notesMaster" Target="/ppt/notesMasters/notesMaster1.xml" Id="Rddbfbb39fadb434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7e6dd5437d64a29" /><Relationship Type="http://schemas.openxmlformats.org/officeDocument/2006/relationships/notesMaster" Target="/ppt/notesMasters/notesMaster1.xml" Id="R7d80e3ab7d5d493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910578ce84a425b" /><Relationship Type="http://schemas.openxmlformats.org/officeDocument/2006/relationships/notesMaster" Target="/ppt/notesMasters/notesMaster1.xml" Id="R0dd807c86b8c4ea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9323cee7910481f" /><Relationship Type="http://schemas.openxmlformats.org/officeDocument/2006/relationships/notesMaster" Target="/ppt/notesMasters/notesMaster1.xml" Id="Rfb71f691605c476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14eaf4a27b84052" /><Relationship Type="http://schemas.openxmlformats.org/officeDocument/2006/relationships/notesMaster" Target="/ppt/notesMasters/notesMaster1.xml" Id="R7a92de151c544fd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bb772c6c5b448c9" /><Relationship Type="http://schemas.openxmlformats.org/officeDocument/2006/relationships/notesMaster" Target="/ppt/notesMasters/notesMaster1.xml" Id="Rbb386962f9ec47e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f1b6426dde74b7b" /><Relationship Type="http://schemas.openxmlformats.org/officeDocument/2006/relationships/notesMaster" Target="/ppt/notesMasters/notesMaster1.xml" Id="R231c1fc1a14f420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16d6576024d4c8f" /><Relationship Type="http://schemas.openxmlformats.org/officeDocument/2006/relationships/notesMaster" Target="/ppt/notesMasters/notesMaster1.xml" Id="R8c80f9f5d128476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f1a067b91d54bf6" /><Relationship Type="http://schemas.openxmlformats.org/officeDocument/2006/relationships/notesMaster" Target="/ppt/notesMasters/notesMaster1.xml" Id="Rde83f3b3bfb64db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1e05c10b48e4483" /><Relationship Type="http://schemas.openxmlformats.org/officeDocument/2006/relationships/notesMaster" Target="/ppt/notesMasters/notesMaster1.xml" Id="R21b75eea527e4ba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45e1b79568a4903" /><Relationship Type="http://schemas.openxmlformats.org/officeDocument/2006/relationships/notesMaster" Target="/ppt/notesMasters/notesMaster1.xml" Id="Rc4bdf9e3fbb5435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fab5ef7d1224ce1" /><Relationship Type="http://schemas.openxmlformats.org/officeDocument/2006/relationships/notesMaster" Target="/ppt/notesMasters/notesMaster1.xml" Id="R998edf9605d34be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97e8f386b184bc8" /><Relationship Type="http://schemas.openxmlformats.org/officeDocument/2006/relationships/notesMaster" Target="/ppt/notesMasters/notesMaster1.xml" Id="Rbbc4c02e2de54e9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0eed18b45504241" /><Relationship Type="http://schemas.openxmlformats.org/officeDocument/2006/relationships/notesMaster" Target="/ppt/notesMasters/notesMaster1.xml" Id="R7873927484b34f5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629f16b30734b41" /><Relationship Type="http://schemas.openxmlformats.org/officeDocument/2006/relationships/notesMaster" Target="/ppt/notesMasters/notesMaster1.xml" Id="Re3a8fa71ae6f47b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eda4379a4cf4a47" /><Relationship Type="http://schemas.openxmlformats.org/officeDocument/2006/relationships/notesMaster" Target="/ppt/notesMasters/notesMaster1.xml" Id="R6df135923b1e4ad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bc0ef21bb6b4b2c" /><Relationship Type="http://schemas.openxmlformats.org/officeDocument/2006/relationships/notesMaster" Target="/ppt/notesMasters/notesMaster1.xml" Id="Rd1bd50b219f54d9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7d103e153b346e9" /><Relationship Type="http://schemas.openxmlformats.org/officeDocument/2006/relationships/notesMaster" Target="/ppt/notesMasters/notesMaster1.xml" Id="R6b0cd455cf614a5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524dc6511e24d66" /><Relationship Type="http://schemas.openxmlformats.org/officeDocument/2006/relationships/notesMaster" Target="/ppt/notesMasters/notesMaster1.xml" Id="R15759dcee7474c9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80c26de40db448b" /><Relationship Type="http://schemas.openxmlformats.org/officeDocument/2006/relationships/notesMaster" Target="/ppt/notesMasters/notesMaster1.xml" Id="Rd7d601336ab34ef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6ec83cd462f4809" /><Relationship Type="http://schemas.openxmlformats.org/officeDocument/2006/relationships/notesMaster" Target="/ppt/notesMasters/notesMaster1.xml" Id="R1663baf17759494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2a643c1e4f24510" /><Relationship Type="http://schemas.openxmlformats.org/officeDocument/2006/relationships/notesMaster" Target="/ppt/notesMasters/notesMaster1.xml" Id="Re0cacae2020f46b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b640bf6c05344d8" /><Relationship Type="http://schemas.openxmlformats.org/officeDocument/2006/relationships/notesMaster" Target="/ppt/notesMasters/notesMaster1.xml" Id="Rcb2a41d08dfe416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af71964b16442c7" /><Relationship Type="http://schemas.openxmlformats.org/officeDocument/2006/relationships/notesMaster" Target="/ppt/notesMasters/notesMaster1.xml" Id="R0bc5200c4410464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2bef9b60d1c4212" /><Relationship Type="http://schemas.openxmlformats.org/officeDocument/2006/relationships/notesMaster" Target="/ppt/notesMasters/notesMaster1.xml" Id="Rcb8ab994e52548d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25987ff2e024666" /><Relationship Type="http://schemas.openxmlformats.org/officeDocument/2006/relationships/notesMaster" Target="/ppt/notesMasters/notesMaster1.xml" Id="R5b7ec353f6984da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c69273ff553b4bb1" /><Relationship Type="http://schemas.openxmlformats.org/officeDocument/2006/relationships/notesMaster" Target="/ppt/notesMasters/notesMaster1.xml" Id="Rfd7b2597f8a1453d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166468b15424e71" /><Relationship Type="http://schemas.openxmlformats.org/officeDocument/2006/relationships/notesMaster" Target="/ppt/notesMasters/notesMaster1.xml" Id="Rb6dcea244d85482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742fb1d17b1e4962" /><Relationship Type="http://schemas.openxmlformats.org/officeDocument/2006/relationships/notesMaster" Target="/ppt/notesMasters/notesMaster1.xml" Id="R98c37a5f1c7a4fd0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3d084ea33d24aa0" /><Relationship Type="http://schemas.openxmlformats.org/officeDocument/2006/relationships/notesMaster" Target="/ppt/notesMasters/notesMaster1.xml" Id="Rc8b2f319d8c44060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148c05fac5c4c63" /><Relationship Type="http://schemas.openxmlformats.org/officeDocument/2006/relationships/notesMaster" Target="/ppt/notesMasters/notesMaster1.xml" Id="R57ac6a9f2bf84d0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구진모 원장님 발표 60분을 기준으로 구성. 영어↔베트남어 통역 시간을 포함할지는 최종 프로그램에서 확인합니다.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수술 전·중·후 29개 과정의 공통 흐름. 구간의 세부 순서와 실제 시행 시점은 수술팀과 확인합니다. 이 목차는 발표 구조이며 모든 처치가 고정된 순서라는 의미는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5S 복합수술이라는 명칭만 확정. S1~S5의 정확한 한글·영문명과 각 목적을 원장님께 받아 이 장에 보완합니다. 다섯 항목을 임의로 정의하지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연결된 촬영 과정 (2026-10-08 기준)</a:t>
            </a:r>
          </a:p>
          <a:p xmlns:a="http://schemas.openxmlformats.org/drawingml/2006/main">
            <a:r>
              <a:t>상담(환자 평가·수술 계획)</a:t>
            </a:r>
          </a:p>
          <a:p xmlns:a="http://schemas.openxmlformats.org/drawingml/2006/main">
            <a:r>
              <a:t>씬 1: 상담 사진으로 대체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최신 촬영 기록: https://notoow.github.io/vietnam-urology-webinar/#perioperative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수술팀 기록의 첫 과정인 상담을 발표의 출발점으로 배치. 상담 및 설명·동의 카드는 사진으로 대체한다는 팀 메모를 연결합니다. 선택·제외 기준과 실제 안내 내용은 원장님 설명으로 확정합니다.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연결된 촬영 과정 (2026-10-08 기준)</a:t>
            </a:r>
          </a:p>
          <a:p xmlns:a="http://schemas.openxmlformats.org/drawingml/2006/main">
            <a:r>
              <a:t>상담(환자 평가·수술 계획)</a:t>
            </a:r>
          </a:p>
          <a:p xmlns:a="http://schemas.openxmlformats.org/drawingml/2006/main">
            <a:r>
              <a:t>씬 1: 상담 사진으로 대체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설명·동의·수술 전 기록</a:t>
            </a:r>
          </a:p>
          <a:p xmlns:a="http://schemas.openxmlformats.org/drawingml/2006/main">
            <a:r>
              <a:t>사진으로 대체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수술 전 환자 안내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최신 촬영 기록: https://notoow.github.io/vietnam-urology-webinar/#perioperative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수술실장 전달 항목: 간수치·당수치·염증수치·성병. 실제 검사명, 시점, 수술 연기 기준은 확인 필요. 팀 메모: 피검사는 영상, 소변검사는 사진. 개인 검사결과가 노출되지 않는 자료를 사용합니다.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연결된 촬영 과정 (2026-10-08 기준)</a:t>
            </a:r>
          </a:p>
          <a:p xmlns:a="http://schemas.openxmlformats.org/drawingml/2006/main">
            <a:r>
              <a:t>피검사·소변검사</a:t>
            </a:r>
          </a:p>
          <a:p xmlns:a="http://schemas.openxmlformats.org/drawingml/2006/main">
            <a:r>
              <a:t>수술실장 전달: 피검사·소변검사로 간수치, 당수치, 염증수치, 성병 관련 항목 확인.</a:t>
            </a:r>
          </a:p>
          <a:p xmlns:a="http://schemas.openxmlformats.org/drawingml/2006/main">
            <a:r>
              <a:t>촬영할 장면: 채혈·소변검사 준비와 시행, 확인하는 검사 항목 설명. 개인 검사결과가 화면에 나오지 않도록 구성.</a:t>
            </a:r>
          </a:p>
          <a:p xmlns:a="http://schemas.openxmlformats.org/drawingml/2006/main">
            <a:r>
              <a:t>확인할 내용: 실제 검사명과 검사 시점.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피검사 영상</a:t>
            </a:r>
          </a:p>
          <a:p xmlns:a="http://schemas.openxmlformats.org/drawingml/2006/main">
            <a:r>
              <a:t>소변검사=사진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최신 촬영 기록: https://notoow.github.io/vietnam-urology-webinar/#perioperative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원장님이 강조한 대학병원급 환경을 실제 설비 중심으로 설명합니다. 발전기·필터·양압 표시·벽과 바닥·CCTV 설치 장면을 연결. 1시간 유지 대상 장비 및 조건은 설비 자료와 대조합니다. 특정 시설 인증을 받았다고 표현하지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연결된 촬영 과정 (2026-10-08 기준)</a:t>
            </a:r>
          </a:p>
          <a:p xmlns:a="http://schemas.openxmlformats.org/drawingml/2006/main">
            <a:r>
              <a:t>수술실 환경·설비 (하이스트 노하우)</a:t>
            </a:r>
          </a:p>
          <a:p xmlns:a="http://schemas.openxmlformats.org/drawingml/2006/main">
            <a:r>
              <a:t>원장님 전달: 대학병원급 수술환경의 핵심 요소로 소개.</a:t>
            </a:r>
          </a:p>
          <a:p xmlns:a="http://schemas.openxmlformats.org/drawingml/2006/main">
            <a:r>
              <a:t>촬영할 장면:</a:t>
            </a:r>
          </a:p>
          <a:p xmlns:a="http://schemas.openxmlformats.org/drawingml/2006/main">
            <a:r>
              <a:t>• EMS 발전기 — 장비·설치 위치와 정전 시 1시간 유지에 대한 설명.</a:t>
            </a:r>
          </a:p>
          <a:p xmlns:a="http://schemas.openxmlformats.org/drawingml/2006/main">
            <a:r>
              <a:t>• HEPA 필터 — 필터가 설치된 설비.</a:t>
            </a:r>
          </a:p>
          <a:p xmlns:a="http://schemas.openxmlformats.org/drawingml/2006/main">
            <a:r>
              <a:t>• 양압실 — 수술실 전경과 양압 관련 설비·표시.</a:t>
            </a:r>
          </a:p>
          <a:p xmlns:a="http://schemas.openxmlformats.org/drawingml/2006/main">
            <a:r>
              <a:t>• 항균 벽·항균 바닥 — 해당 마감재와 수술실 전경.</a:t>
            </a:r>
          </a:p>
          <a:p xmlns:a="http://schemas.openxmlformats.org/drawingml/2006/main">
            <a:r>
              <a:t>• 모든 수술실 CCTV — 각 수술실의 카메라 설치 모습.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최신 촬영 기록: https://notoow.github.io/vietnam-urology-webinar/#perioperative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전부 일회용 소독포라는 하이스트 노하우를 독립 장으로 강조. 포장·개봉·펼치기·세팅된 모습을 한 흐름으로 촬영합니다.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연결된 촬영 과정 (2026-10-08 기준)</a:t>
            </a:r>
          </a:p>
          <a:p xmlns:a="http://schemas.openxmlformats.org/drawingml/2006/main">
            <a:r>
              <a:t>수술실 준비·일회용 소독포 (하이스트 노하우)</a:t>
            </a:r>
          </a:p>
          <a:p xmlns:a="http://schemas.openxmlformats.org/drawingml/2006/main">
            <a:r>
              <a:t>수술실장 전달: 소독포는 전부 일회용 사용.</a:t>
            </a:r>
          </a:p>
          <a:p xmlns:a="http://schemas.openxmlformats.org/drawingml/2006/main">
            <a:r>
              <a:t>촬영할 장면: 사용할 일회용 소독포의 포장, 개봉, 펼치는 과정과 세팅된 모습.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최신 촬영 기록: https://notoow.github.io/vietnam-urology-webinar/#perioperative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기구 세척·포장·멸균 카드를 연결한 설명 틀입니다. 실제 장비, 사이클, 표시·기록, 보관 및 사용 전 확인을 수술팀에게 받습니다. 온도·시간·재처리법은 미정이며 본문에 수치를 넣지 않았습니다.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연결된 촬영 과정 (2026-10-08 기준)</a:t>
            </a:r>
          </a:p>
          <a:p xmlns:a="http://schemas.openxmlformats.org/drawingml/2006/main">
            <a:r>
              <a:t>기구 세척·포장·멸균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최신 촬영 기록: https://notoow.github.io/vietnam-urology-webinar/#perioperative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원장님 제공 원내 보유 사양. 두께 3–5 mm / 5×6, 5×8, 5×10, 6×12 cm. 동종진피2 사진의 준비 상태나 실제 치수는 사진만으로 판정하지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연결된 촬영 과정 (2026-10-08 기준)</a:t>
            </a:r>
          </a:p>
          <a:p xmlns:a="http://schemas.openxmlformats.org/drawingml/2006/main">
            <a:r>
              <a:t>진피·MegaFill 등 재료 준비</a:t>
            </a:r>
          </a:p>
          <a:p xmlns:a="http://schemas.openxmlformats.org/drawingml/2006/main">
            <a:r>
              <a:t>촬영할 장면: 진피와 MegaFill 제품 포장, 사용할 재료를 준비하는 모습.</a:t>
            </a:r>
          </a:p>
          <a:p xmlns:a="http://schemas.openxmlformats.org/drawingml/2006/main">
            <a:r>
              <a:t>보유 진피: 두께 3–5 mm / 5×6, 5×8, 5×10, 6×12 cm. 수화형·건조형의 준비 차이가 보이도록 촬영.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최신 촬영 기록: https://notoow.github.io/vietnam-urology-webinar/#perioperative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기존에 제공받은 실제 진피 포장 사진. 좌우 제품명·규격·타입과 MegaFill 포장 자료를 확인합니다. 이 사진은 제품 외관 소개이며 멸균 취급 시범 장면으로 쓰지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연결된 촬영 과정 (2026-10-08 기준)</a:t>
            </a:r>
          </a:p>
          <a:p xmlns:a="http://schemas.openxmlformats.org/drawingml/2006/main">
            <a:r>
              <a:t>진피·MegaFill 등 재료 준비</a:t>
            </a:r>
          </a:p>
          <a:p xmlns:a="http://schemas.openxmlformats.org/drawingml/2006/main">
            <a:r>
              <a:t>촬영할 장면: 진피와 MegaFill 제품 포장, 사용할 재료를 준비하는 모습.</a:t>
            </a:r>
          </a:p>
          <a:p xmlns:a="http://schemas.openxmlformats.org/drawingml/2006/main">
            <a:r>
              <a:t>보유 진피: 두께 3–5 mm / 5×6, 5×8, 5×10, 6×12 cm. 수화형·건조형의 준비 차이가 보이도록 촬영.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최신 촬영 기록: https://notoow.github.io/vietnam-urology-webinar/#perioperative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기록에 있는 쉐이빙은 영문에서 방법을 단정하지 않도록 hair preparation으로 표현했습니다. 실제 장비가 클리퍼인지 면도기인지 확인이 필요합니다. WHO는 제모가 필요하면 클리퍼를 사용하고 면도는 피하도록 권고합니다. 브리핑·입실·혈압의 정확한 시행 순서는 수술팀 확인.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https://www.who.int/news-room/questions-and-answers/item/surgical-site-infections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연결된 촬영 과정 (2026-10-08 기준)</a:t>
            </a:r>
          </a:p>
          <a:p xmlns:a="http://schemas.openxmlformats.org/drawingml/2006/main">
            <a:r>
              <a:t>수술팀 브리핑·입실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쉐이빙</a:t>
            </a:r>
          </a:p>
          <a:p xmlns:a="http://schemas.openxmlformats.org/drawingml/2006/main">
            <a:r>
              <a:t>촬영할 장면: 쉐이빙 준비부터 실제 시행 과정.</a:t>
            </a:r>
          </a:p>
          <a:p xmlns:a="http://schemas.openxmlformats.org/drawingml/2006/main">
            <a:r>
              <a:t>확인할 내용: 시행 시점과 범위.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혈압 체크</a:t>
            </a:r>
          </a:p>
          <a:p xmlns:a="http://schemas.openxmlformats.org/drawingml/2006/main">
            <a:r>
              <a:t>촬영할 장면: 혈압 측정 준비와 실제 체크하는 모습.</a:t>
            </a:r>
          </a:p>
          <a:p xmlns:a="http://schemas.openxmlformats.org/drawingml/2006/main">
            <a:r>
              <a:t>확인할 내용: 입실·마취 준비 단계 중 정확한 측정 시점.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최신 촬영 기록: https://notoow.github.io/vietnam-urology-webinar/#perioperative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수술실장 전달: 의식하진정마취, 정맥주사, 프로포폴. 용량·투여법·관찰 기준은 아직 받지 않았으므로 구체 지침을 넣지 않았습니다. 마취 단계의 실제 준비 및 모니터링 장면을 설명합니다.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연결된 촬영 과정 (2026-10-08 기준)</a:t>
            </a:r>
          </a:p>
          <a:p xmlns:a="http://schemas.openxmlformats.org/drawingml/2006/main">
            <a:r>
              <a:t>의식하진정마취 · 정맥주사·프로포폴</a:t>
            </a:r>
          </a:p>
          <a:p xmlns:a="http://schemas.openxmlformats.org/drawingml/2006/main">
            <a:r>
              <a:t>수술실장 전달: 의식하진정마취, 정맥주사·프로포폴 사용.</a:t>
            </a:r>
          </a:p>
          <a:p xmlns:a="http://schemas.openxmlformats.org/drawingml/2006/main">
            <a:r>
              <a:t>촬영할 장면: 정맥주사 준비와 수술팀의 실제 마취 준비 과정.</a:t>
            </a:r>
          </a:p>
          <a:p xmlns:a="http://schemas.openxmlformats.org/drawingml/2006/main">
            <a:r>
              <a:t>확인할 내용: 구체적인 약물 사용·관찰 과정과 촬영 범위.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최신 촬영 기록: https://notoow.github.io/vietnam-urology-webinar/#perioperative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드랩(소독)이라는 원내 전달 표현을 피부 소독과 수술포 덮기로 구분해 설명합니다. 실제 제품·조건·테가덤과의 순서는 수술팀 확인. 현재 슬라이드 순서는 강의 구성이며 처치 순서의 확정본이 아닙니다.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연결된 촬영 과정 (2026-10-08 기준)</a:t>
            </a:r>
          </a:p>
          <a:p xmlns:a="http://schemas.openxmlformats.org/drawingml/2006/main">
            <a:r>
              <a:t>드랩 · 소독</a:t>
            </a:r>
          </a:p>
          <a:p xmlns:a="http://schemas.openxmlformats.org/drawingml/2006/main">
            <a:r>
              <a:t>수술실장 전달 표현: 드랩(소독).</a:t>
            </a:r>
          </a:p>
          <a:p xmlns:a="http://schemas.openxmlformats.org/drawingml/2006/main">
            <a:r>
              <a:t>촬영할 장면: 소독 준비부터 실제 소독하는 순서.</a:t>
            </a:r>
          </a:p>
          <a:p xmlns:a="http://schemas.openxmlformats.org/drawingml/2006/main">
            <a:r>
              <a:t>확인할 내용: 소독과 수술포 덮기의 정확한 구분, 사용하는 제품과 적용 범위.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수술포 덮기</a:t>
            </a:r>
          </a:p>
          <a:p xmlns:a="http://schemas.openxmlformats.org/drawingml/2006/main">
            <a:r>
              <a:t>촬영할 장면: 수술포를 펼치고 덮는 순서, 최종 세팅 모습.</a:t>
            </a:r>
          </a:p>
          <a:p xmlns:a="http://schemas.openxmlformats.org/drawingml/2006/main">
            <a:r>
              <a:t>수술실장 전달: 일회용 소독포 사용.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최신 촬영 기록: https://notoow.github.io/vietnam-urology-webinar/#perioperative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원장님 추가 설명: 테가덤을 반으로 잘라 수술부위 주변에 붙입니다. 손을 무균으로 전제하지 않고 주변 피부와의 직접 접촉을 줄이려는 취지입니다. 촬영 씬: 반으로 자르기, 붙이는 위치·범위, 부착 완료 모습. 참고로만 보여주신 수술 스틸은 이 공개 페이지나 PPTX에 삽입하지 않았습니다.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연결된 촬영 과정 (2026-10-08 기준)</a:t>
            </a:r>
          </a:p>
          <a:p xmlns:a="http://schemas.openxmlformats.org/drawingml/2006/main">
            <a:r>
              <a:t>테가덤 부착 (하이스트 노하우)</a:t>
            </a:r>
          </a:p>
          <a:p xmlns:a="http://schemas.openxmlformats.org/drawingml/2006/main">
            <a:r>
              <a:t>수술실장 전달: 스킨이 닿지 않게 테가덤 부착, 안티셉틱.</a:t>
            </a:r>
          </a:p>
          <a:p xmlns:a="http://schemas.openxmlformats.org/drawingml/2006/main">
            <a:r>
              <a:t>촬영할 장면: 테가덤 부착 위치·범위와 피부 접촉을 막으려는 부위가 보이는 장면.</a:t>
            </a:r>
          </a:p>
          <a:p xmlns:a="http://schemas.openxmlformats.org/drawingml/2006/main">
            <a:r>
              <a:t>확인할 내용: 무엇과 피부의 접촉을 막는지, 안티셉틱의 제품·적용 순서.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최신 촬영 기록: https://notoow.github.io/vietnam-urology-webinar/#perioperative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수화형은 홈이 없어 직접 홈을 만들고, 건조형은 구멍이 있어 수술 준비 시 수화한다는 원장님 설명. 홈의 구체적인 형태·위치·간격과 도구는 추가 확인.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연결된 촬영 과정 (2026-10-08 기준)</a:t>
            </a:r>
          </a:p>
          <a:p xmlns:a="http://schemas.openxmlformats.org/drawingml/2006/main">
            <a:r>
              <a:t>진피·MegaFill 등 재료 준비</a:t>
            </a:r>
          </a:p>
          <a:p xmlns:a="http://schemas.openxmlformats.org/drawingml/2006/main">
            <a:r>
              <a:t>촬영할 장면: 진피와 MegaFill 제품 포장, 사용할 재료를 준비하는 모습.</a:t>
            </a:r>
          </a:p>
          <a:p xmlns:a="http://schemas.openxmlformats.org/drawingml/2006/main">
            <a:r>
              <a:t>보유 진피: 두께 3–5 mm / 5×6, 5×8, 5×10, 6×12 cm. 수화형·건조형의 준비 차이가 보이도록 촬영.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진피 가공·삽입·고정</a:t>
            </a:r>
          </a:p>
          <a:p xmlns:a="http://schemas.openxmlformats.org/drawingml/2006/main">
            <a:r>
              <a:t>촬영할 장면: 진피를 가공하고 삽입·고정하는 실제 과정.</a:t>
            </a:r>
          </a:p>
          <a:p xmlns:a="http://schemas.openxmlformats.org/drawingml/2006/main">
            <a:r>
              <a:t>원장님 전달: 수화형은 홈이 없어 직접 홈을 만들고, 건조형은 구멍이 뚫려 있어 수술 준비 시 수화하여 부드럽게 만듦.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최신 촬영 기록: https://notoow.github.io/vietnam-urology-webinar/#perioperative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원내 경험으로 보고된 내용: 생리식염수+항생제 2종. 약물명·용량·용액 양·시간·제품 IFU 적합성은 아직 미확인입니다. 확인 전 표준 처방이나 제조사 권고로 소개하지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연결된 촬영 과정 (2026-10-08 기준)</a:t>
            </a:r>
          </a:p>
          <a:p xmlns:a="http://schemas.openxmlformats.org/drawingml/2006/main">
            <a:r>
              <a:t>진피 수화 · 생리식염수＋항생제 2종</a:t>
            </a:r>
          </a:p>
          <a:p xmlns:a="http://schemas.openxmlformats.org/drawingml/2006/main">
            <a:r>
              <a:t>수술실장 전달: 생리식염수와 항생제 두 종류로 진피 수화.</a:t>
            </a:r>
          </a:p>
          <a:p xmlns:a="http://schemas.openxmlformats.org/drawingml/2006/main">
            <a:r>
              <a:t>촬영할 장면: 실제 사용하는 제품, 준비·혼합·수화하는 과정과 수화 후 진피 상태.</a:t>
            </a:r>
          </a:p>
          <a:p xmlns:a="http://schemas.openxmlformats.org/drawingml/2006/main">
            <a:r>
              <a:t>확인할 내용: 항생제 2종의 이름·용량, 생리식염수 양, 준비·수화 시간. 정확한 시행 시점은 수술팀 확인.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최신 촬영 기록: https://notoow.github.io/vietnam-urology-webinar/#perioperative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원장님 제공 두 방식: 치골절개와 포경수술선 절개. 각 위치·박리 과정의 영상 및 접근 선택 기준을 받습니다. 영문 pubic incision의 정확한 위치 표현은 원장님 확인 후 세부화.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연결된 촬영 과정 (2026-10-08 기준)</a:t>
            </a:r>
          </a:p>
          <a:p xmlns:a="http://schemas.openxmlformats.org/drawingml/2006/main">
            <a:r>
              <a:t>절개·박리와 수술 단계</a:t>
            </a:r>
          </a:p>
          <a:p xmlns:a="http://schemas.openxmlformats.org/drawingml/2006/main">
            <a:r>
              <a:t>원장님 전달: 절개는 치골절개와 포경수술선 절개 두 가지 방식.</a:t>
            </a:r>
          </a:p>
          <a:p xmlns:a="http://schemas.openxmlformats.org/drawingml/2006/main">
            <a:r>
              <a:t>촬영할 장면:</a:t>
            </a:r>
          </a:p>
          <a:p xmlns:a="http://schemas.openxmlformats.org/drawingml/2006/main">
            <a:r>
              <a:t>• 치골절개 — 절개 위치와 실제 절개·박리 과정.</a:t>
            </a:r>
          </a:p>
          <a:p xmlns:a="http://schemas.openxmlformats.org/drawingml/2006/main">
            <a:r>
              <a:t>• 포경수술선 절개 — 절개 위치와 실제 절개·박리 과정.</a:t>
            </a:r>
          </a:p>
          <a:p xmlns:a="http://schemas.openxmlformats.org/drawingml/2006/main">
            <a:r>
              <a:t>• 두 방식의 선택 기준에 대한 원장님 설명.</a:t>
            </a:r>
          </a:p>
          <a:p xmlns:a="http://schemas.openxmlformats.org/drawingml/2006/main">
            <a:r>
              <a:t>이후 주요 수술 단계를 순서대로 촬영하며 세부 술기·촬영 구도는 추가 정리.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최신 촬영 기록: https://notoow.github.io/vietnam-urology-webinar/#perioperative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두 절개 방식 다음에 실제 박리를 설명하는 장. 해부학적 층, 박리 범위, 피해야 할 구조, 술기 변경 기준은 원장님이 제시할 실제 증례에 맞춰 채웁니다.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연결된 촬영 과정 (2026-10-08 기준)</a:t>
            </a:r>
          </a:p>
          <a:p xmlns:a="http://schemas.openxmlformats.org/drawingml/2006/main">
            <a:r>
              <a:t>절개·박리와 수술 단계</a:t>
            </a:r>
          </a:p>
          <a:p xmlns:a="http://schemas.openxmlformats.org/drawingml/2006/main">
            <a:r>
              <a:t>원장님 전달: 절개는 치골절개와 포경수술선 절개 두 가지 방식.</a:t>
            </a:r>
          </a:p>
          <a:p xmlns:a="http://schemas.openxmlformats.org/drawingml/2006/main">
            <a:r>
              <a:t>촬영할 장면:</a:t>
            </a:r>
          </a:p>
          <a:p xmlns:a="http://schemas.openxmlformats.org/drawingml/2006/main">
            <a:r>
              <a:t>• 치골절개 — 절개 위치와 실제 절개·박리 과정.</a:t>
            </a:r>
          </a:p>
          <a:p xmlns:a="http://schemas.openxmlformats.org/drawingml/2006/main">
            <a:r>
              <a:t>• 포경수술선 절개 — 절개 위치와 실제 절개·박리 과정.</a:t>
            </a:r>
          </a:p>
          <a:p xmlns:a="http://schemas.openxmlformats.org/drawingml/2006/main">
            <a:r>
              <a:t>• 두 방식의 선택 기준에 대한 원장님 설명.</a:t>
            </a:r>
          </a:p>
          <a:p xmlns:a="http://schemas.openxmlformats.org/drawingml/2006/main">
            <a:r>
              <a:t>이후 주요 수술 단계를 순서대로 촬영하며 세부 술기·촬영 구도는 추가 정리.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최신 촬영 기록: https://notoow.github.io/vietnam-urology-webinar/#perioperative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진피 가공·삽입·고정 카드의 세 단계를 발표에서 구분합니다. 가공 치수·층·고정 위치·재료·장력은 아직 미확인. 실제 술기 사진·영상을 중심으로 원장님 설명을 추가합니다.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연결된 촬영 과정 (2026-10-08 기준)</a:t>
            </a:r>
          </a:p>
          <a:p xmlns:a="http://schemas.openxmlformats.org/drawingml/2006/main">
            <a:r>
              <a:t>진피 가공·삽입·고정</a:t>
            </a:r>
          </a:p>
          <a:p xmlns:a="http://schemas.openxmlformats.org/drawingml/2006/main">
            <a:r>
              <a:t>촬영할 장면: 진피를 가공하고 삽입·고정하는 실제 과정.</a:t>
            </a:r>
          </a:p>
          <a:p xmlns:a="http://schemas.openxmlformats.org/drawingml/2006/main">
            <a:r>
              <a:t>원장님 전달: 수화형은 홈이 없어 직접 홈을 만들고, 건조형은 구멍이 뚫려 있어 수술 준비 시 수화하여 부드럽게 만듦.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최신 촬영 기록: https://notoow.github.io/vietnam-urology-webinar/#perioperative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노터치 술기가 있다는 점은 원장님에게 확인했습니다. 무엇과 무엇의 접촉을 어떤 단계에서 피하는지 구체 동작은 아직 확인 중. 근접 화면에서 손·기구·진피·주변 피부의 관계를 보여줍니다.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연결된 촬영 과정 (2026-10-08 기준)</a:t>
            </a:r>
          </a:p>
          <a:p xmlns:a="http://schemas.openxmlformats.org/drawingml/2006/main">
            <a:r>
              <a:t>노터치 술기 (하이스트 노하우)</a:t>
            </a:r>
          </a:p>
          <a:p xmlns:a="http://schemas.openxmlformats.org/drawingml/2006/main">
            <a:r>
              <a:t>촬영할 장면: 노터치 술기를 적용하는 실제 수술 장면. 손·기구·수술 부위의 관계가 보이는 근접 화면.</a:t>
            </a:r>
          </a:p>
          <a:p xmlns:a="http://schemas.openxmlformats.org/drawingml/2006/main">
            <a:r>
              <a:t>원장님 설명: 어느 단계에서 무엇의 접촉을 피하는지와 핵심 포인트.</a:t>
            </a:r>
          </a:p>
          <a:p xmlns:a="http://schemas.openxmlformats.org/drawingml/2006/main">
            <a:r>
              <a:t>일회용 포 사용·무균 영역 세팅 장면도 함께 확보. 적용 단계와 세부 촬영 순서는 수술팀과 확인.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최신 촬영 기록: https://notoow.github.io/vietnam-urology-webinar/#perioperative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수술실장 전달: 진피 턱짐을 보완하는 MegaFill 사용. 병용 이유와 적용 전후 형태를 중심으로 설명합니다. 층·양·주입 방식·적용 기준은 확인 전이며 결과를 보장하는 문구를 넣지 않습니다. 병용 사례 영상과 추적 자료 필요.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연결된 촬영 과정 (2026-10-08 기준)</a:t>
            </a:r>
          </a:p>
          <a:p xmlns:a="http://schemas.openxmlformats.org/drawingml/2006/main">
            <a:r>
              <a:t>진피 턱짐·MegaFill (하이스트 노하우)</a:t>
            </a:r>
          </a:p>
          <a:p xmlns:a="http://schemas.openxmlformats.org/drawingml/2006/main">
            <a:r>
              <a:t>수술실장 전달: 진피 턱짐에 MegaFill 사용.</a:t>
            </a:r>
          </a:p>
          <a:p xmlns:a="http://schemas.openxmlformats.org/drawingml/2006/main">
            <a:r>
              <a:t>촬영할 장면: 턱짐 부위와 MegaFill을 적용하는 실제 과정, 적용 전·후 형태를 설명하는 장면.</a:t>
            </a:r>
          </a:p>
          <a:p xmlns:a="http://schemas.openxmlformats.org/drawingml/2006/main">
            <a:r>
              <a:t>확인할 내용: 적용 기준·부위·순서와 실제 사용량.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최신 촬영 기록: https://notoow.github.io/vietnam-urology-webinar/#perioperative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두 보조제의 사용 사실과 PDRN의 진피 생착 목적은 전달받은 내용입니다. 효과가 입증되었다는 결론은 아닙니다. 정확한 제품·양·경로·시점과 발표에 제시할 근거를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연결된 촬영 과정 (2026-10-08 기준)</a:t>
            </a:r>
          </a:p>
          <a:p xmlns:a="http://schemas.openxmlformats.org/drawingml/2006/main">
            <a:r>
              <a:t>유착방지제 투여 (하이스트 노하우)</a:t>
            </a:r>
          </a:p>
          <a:p xmlns:a="http://schemas.openxmlformats.org/drawingml/2006/main">
            <a:r>
              <a:t>수술실장 전달: 유착방지제 투여.</a:t>
            </a:r>
          </a:p>
          <a:p xmlns:a="http://schemas.openxmlformats.org/drawingml/2006/main">
            <a:r>
              <a:t>촬영할 장면: 사용하는 제품과 준비, 실제 적용 부위·방법.</a:t>
            </a:r>
          </a:p>
          <a:p xmlns:a="http://schemas.openxmlformats.org/drawingml/2006/main">
            <a:r>
              <a:t>확인할 내용: 제품명·용량과 수술 중 정확한 투여 시점.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PDRN 투여 (하이스트 노하우)</a:t>
            </a:r>
          </a:p>
          <a:p xmlns:a="http://schemas.openxmlformats.org/drawingml/2006/main">
            <a:r>
              <a:t>수술실장 전달: 진피 생착을 목적으로 PDRN 투여.</a:t>
            </a:r>
          </a:p>
          <a:p xmlns:a="http://schemas.openxmlformats.org/drawingml/2006/main">
            <a:r>
              <a:t>촬영할 장면: 사용하는 제품과 준비, 실제 투여 부위·방법, 사용 목적에 대한 원장님 설명.</a:t>
            </a:r>
          </a:p>
          <a:p xmlns:a="http://schemas.openxmlformats.org/drawingml/2006/main">
            <a:r>
              <a:t>확인할 내용: 제품명·용량·경로·시점과 발표에서 제시할 근거.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최신 촬영 기록: https://notoow.github.io/vietnam-urology-webinar/#perioperative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수술 종료 카드를 연결했습니다. 실제 지혈 확인, 봉합 방식, 드레싱 제품과 압박 조건, 최종 점검을 수술팀에서 받아 추가합니다.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연결된 촬영 과정 (2026-10-08 기준)</a:t>
            </a:r>
          </a:p>
          <a:p xmlns:a="http://schemas.openxmlformats.org/drawingml/2006/main">
            <a:r>
              <a:t>지혈·봉합·드레싱·종료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최신 촬영 기록: https://notoow.github.io/vietnam-urology-webinar/#perioperative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수술 중 돌발 상황·인계와 회복 관찰·퇴실 판단 두 카드를 연결했습니다. 실제 관찰 항목·간격·퇴실 기준을 받습니다. 임의 수치나 처치 기준을 제시하지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연결된 촬영 과정 (2026-10-08 기준)</a:t>
            </a:r>
          </a:p>
          <a:p xmlns:a="http://schemas.openxmlformats.org/drawingml/2006/main">
            <a:r>
              <a:t>수술 중 돌발 상황·인계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회복 관찰·퇴실 판단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최신 촬영 기록: https://notoow.github.io/vietnam-urology-webinar/#perioperative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기존 공통 과정의 퇴실 안내·환자 교육, 귀가 후 연락·정기 추적을 발표에 반영. 실제 안내문과 내원 일정, 연락·재평가 흐름을 확인합니다.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연결된 촬영 과정 (2026-10-08 기준)</a:t>
            </a:r>
          </a:p>
          <a:p xmlns:a="http://schemas.openxmlformats.org/drawingml/2006/main">
            <a:r>
              <a:t>퇴실 안내·환자 교육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귀가 후 연락·정기 추적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최신 촬영 기록: https://notoow.github.io/vietnam-urology-webinar/#perioperative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실제 경험한 부작용 사례를 요청할 장입니다. 현재 전달받은 합병증명·발생률·처치 내용이 없으므로 특정 진단이나 치료를 넣지 않았습니다. 최초 징후부터 원장 보고·재평가·처치까지 실제 경과를 받습니다.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연결된 촬영 과정 (2026-10-08 기준)</a:t>
            </a:r>
          </a:p>
          <a:p xmlns:a="http://schemas.openxmlformats.org/drawingml/2006/main">
            <a:r>
              <a:t>부작용 보고·재평가·처치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최신 촬영 기록: https://notoow.github.io/vietnam-urology-webinar/#perioperative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합병증 관리 장에 이어 사례의 시간 흐름을 설명합니다. 발생 시점·처치일·추적 기간·재수술 여부·이후 프로토콜 변경을 실제 자료로 채웁니다. 현재는 사례 논의 틀입니다.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연결된 촬영 과정 (2026-10-08 기준)</a:t>
            </a:r>
          </a:p>
          <a:p xmlns:a="http://schemas.openxmlformats.org/drawingml/2006/main">
            <a:r>
              <a:t>부작용 보고·재평가·처치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결과 기록·팀 회고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최신 촬영 기록: https://notoow.github.io/vietnam-urology-webinar/#perioperative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원내 증례 수·측정법·시점·추적률·합병증 정의와 분모가 있어야 결과를 제시할 수 있습니다. 현재 수치는 없으며 결과 기록·팀 회고 카드와 연결됩니다.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연결된 촬영 과정 (2026-10-08 기준)</a:t>
            </a:r>
          </a:p>
          <a:p xmlns:a="http://schemas.openxmlformats.org/drawingml/2006/main">
            <a:r>
              <a:t>결과 기록·팀 회고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최신 촬영 기록: https://notoow.github.io/vietnam-urology-webinar/#perioperative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대표 증례 한 개를 처음부터 끝까지 연결하는 요약 구조. 병용 사례를 우선 검토하며, 없으면 MegaFill 단독 사례도 가능하다는 행사 요청을 반영합니다. 아직 특정 환자 사례는 입력하지 않았습니다.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연결된 촬영 과정 (2026-10-08 기준)</a:t>
            </a:r>
          </a:p>
          <a:p xmlns:a="http://schemas.openxmlformats.org/drawingml/2006/main">
            <a:r>
              <a:t>상담(환자 평가·수술 계획)</a:t>
            </a:r>
          </a:p>
          <a:p xmlns:a="http://schemas.openxmlformats.org/drawingml/2006/main">
            <a:r>
              <a:t>씬 1: 상담 사진으로 대체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절개·박리와 수술 단계</a:t>
            </a:r>
          </a:p>
          <a:p xmlns:a="http://schemas.openxmlformats.org/drawingml/2006/main">
            <a:r>
              <a:t>원장님 전달: 절개는 치골절개와 포경수술선 절개 두 가지 방식.</a:t>
            </a:r>
          </a:p>
          <a:p xmlns:a="http://schemas.openxmlformats.org/drawingml/2006/main">
            <a:r>
              <a:t>촬영할 장면:</a:t>
            </a:r>
          </a:p>
          <a:p xmlns:a="http://schemas.openxmlformats.org/drawingml/2006/main">
            <a:r>
              <a:t>• 치골절개 — 절개 위치와 실제 절개·박리 과정.</a:t>
            </a:r>
          </a:p>
          <a:p xmlns:a="http://schemas.openxmlformats.org/drawingml/2006/main">
            <a:r>
              <a:t>• 포경수술선 절개 — 절개 위치와 실제 절개·박리 과정.</a:t>
            </a:r>
          </a:p>
          <a:p xmlns:a="http://schemas.openxmlformats.org/drawingml/2006/main">
            <a:r>
              <a:t>• 두 방식의 선택 기준에 대한 원장님 설명.</a:t>
            </a:r>
          </a:p>
          <a:p xmlns:a="http://schemas.openxmlformats.org/drawingml/2006/main">
            <a:r>
              <a:t>이후 주요 수술 단계를 순서대로 촬영하며 세부 술기·촬영 구도는 추가 정리.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진피 가공·삽입·고정</a:t>
            </a:r>
          </a:p>
          <a:p xmlns:a="http://schemas.openxmlformats.org/drawingml/2006/main">
            <a:r>
              <a:t>촬영할 장면: 진피를 가공하고 삽입·고정하는 실제 과정.</a:t>
            </a:r>
          </a:p>
          <a:p xmlns:a="http://schemas.openxmlformats.org/drawingml/2006/main">
            <a:r>
              <a:t>원장님 전달: 수화형은 홈이 없어 직접 홈을 만들고, 건조형은 구멍이 뚫려 있어 수술 준비 시 수화하여 부드럽게 만듦.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진피 턱짐·MegaFill (하이스트 노하우)</a:t>
            </a:r>
          </a:p>
          <a:p xmlns:a="http://schemas.openxmlformats.org/drawingml/2006/main">
            <a:r>
              <a:t>수술실장 전달: 진피 턱짐에 MegaFill 사용.</a:t>
            </a:r>
          </a:p>
          <a:p xmlns:a="http://schemas.openxmlformats.org/drawingml/2006/main">
            <a:r>
              <a:t>촬영할 장면: 턱짐 부위와 MegaFill을 적용하는 실제 과정, 적용 전·후 형태를 설명하는 장면.</a:t>
            </a:r>
          </a:p>
          <a:p xmlns:a="http://schemas.openxmlformats.org/drawingml/2006/main">
            <a:r>
              <a:t>확인할 내용: 적용 기준·부위·순서와 실제 사용량.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귀가 후 연락·정기 추적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부작용 보고·재평가·처치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최신 촬영 기록: https://notoow.github.io/vietnam-urology-webinar/#perioperative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전체의 핵심 내용을 원장님의 실제 경험으로 정리합니다. 예방 효과나 성과를 수치 없이 단정하지 않고, 앞에서 제시한 사례와 관찰에 연결합니다.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연결된 촬영 과정 (2026-10-08 기준)</a:t>
            </a:r>
          </a:p>
          <a:p xmlns:a="http://schemas.openxmlformats.org/drawingml/2006/main">
            <a:r>
              <a:t>수술실 준비·일회용 소독포 (하이스트 노하우)</a:t>
            </a:r>
          </a:p>
          <a:p xmlns:a="http://schemas.openxmlformats.org/drawingml/2006/main">
            <a:r>
              <a:t>수술실장 전달: 소독포는 전부 일회용 사용.</a:t>
            </a:r>
          </a:p>
          <a:p xmlns:a="http://schemas.openxmlformats.org/drawingml/2006/main">
            <a:r>
              <a:t>촬영할 장면: 사용할 일회용 소독포의 포장, 개봉, 펼치는 과정과 세팅된 모습.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테가덤 부착 (하이스트 노하우)</a:t>
            </a:r>
          </a:p>
          <a:p xmlns:a="http://schemas.openxmlformats.org/drawingml/2006/main">
            <a:r>
              <a:t>수술실장 전달: 스킨이 닿지 않게 테가덤 부착, 안티셉틱.</a:t>
            </a:r>
          </a:p>
          <a:p xmlns:a="http://schemas.openxmlformats.org/drawingml/2006/main">
            <a:r>
              <a:t>촬영할 장면: 테가덤 부착 위치·범위와 피부 접촉을 막으려는 부위가 보이는 장면.</a:t>
            </a:r>
          </a:p>
          <a:p xmlns:a="http://schemas.openxmlformats.org/drawingml/2006/main">
            <a:r>
              <a:t>확인할 내용: 무엇과 피부의 접촉을 막는지, 안티셉틱의 제품·적용 순서.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노터치 술기 (하이스트 노하우)</a:t>
            </a:r>
          </a:p>
          <a:p xmlns:a="http://schemas.openxmlformats.org/drawingml/2006/main">
            <a:r>
              <a:t>촬영할 장면: 노터치 술기를 적용하는 실제 수술 장면. 손·기구·수술 부위의 관계가 보이는 근접 화면.</a:t>
            </a:r>
          </a:p>
          <a:p xmlns:a="http://schemas.openxmlformats.org/drawingml/2006/main">
            <a:r>
              <a:t>원장님 설명: 어느 단계에서 무엇의 접촉을 피하는지와 핵심 포인트.</a:t>
            </a:r>
          </a:p>
          <a:p xmlns:a="http://schemas.openxmlformats.org/drawingml/2006/main">
            <a:r>
              <a:t>일회용 포 사용·무균 영역 세팅 장면도 함께 확보. 적용 단계와 세부 촬영 순서는 수술팀과 확인.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진피 턱짐·MegaFill (하이스트 노하우)</a:t>
            </a:r>
          </a:p>
          <a:p xmlns:a="http://schemas.openxmlformats.org/drawingml/2006/main">
            <a:r>
              <a:t>수술실장 전달: 진피 턱짐에 MegaFill 사용.</a:t>
            </a:r>
          </a:p>
          <a:p xmlns:a="http://schemas.openxmlformats.org/drawingml/2006/main">
            <a:r>
              <a:t>촬영할 장면: 턱짐 부위와 MegaFill을 적용하는 실제 과정, 적용 전·후 형태를 설명하는 장면.</a:t>
            </a:r>
          </a:p>
          <a:p xmlns:a="http://schemas.openxmlformats.org/drawingml/2006/main">
            <a:r>
              <a:t>확인할 내용: 적용 기준·부위·순서와 실제 사용량.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부작용 보고·재평가·처치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최신 촬영 기록: https://notoow.github.io/vietnam-urology-webinar/#perioperative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Q&amp;A는 60분 발표 뒤 별도 세션입니다. 공유 프로그램의 17:00–17:20 KST와 요청 문구의 17:00–17:30 KST 차이는 대리점 최종 안내 확인.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4a57e2a5a44ad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6fd68668ed84ce4" /><Relationship Type="http://schemas.openxmlformats.org/officeDocument/2006/relationships/slideLayout" Target="/ppt/slideLayouts/slideLayout1.xml" Id="R0f5e5013bf544d2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5e5013bf544d2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8b9e99fc4f4fce" /><Relationship Type="http://schemas.openxmlformats.org/officeDocument/2006/relationships/image" Target="/ppt/media/image.png" Id="R4b83b0001c064bd4" /><Relationship Type="http://schemas.openxmlformats.org/officeDocument/2006/relationships/image" Target="/ppt/media/image2.png" Id="Rfbb97fc16e684a18" /><Relationship Type="http://schemas.openxmlformats.org/officeDocument/2006/relationships/notesSlide" Target="/ppt/notesSlides/notesSlide1.xml" Id="R9638dd109e83459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3be00a56bf479b" /><Relationship Type="http://schemas.openxmlformats.org/officeDocument/2006/relationships/notesSlide" Target="/ppt/notesSlides/notesSlide2.xml" Id="R61a2e55251ce45f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5e64dda10945c0" /><Relationship Type="http://schemas.openxmlformats.org/officeDocument/2006/relationships/notesSlide" Target="/ppt/notesSlides/notesSlide3.xml" Id="R100b846e1a21426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a56f18fbe94bae" /><Relationship Type="http://schemas.openxmlformats.org/officeDocument/2006/relationships/notesSlide" Target="/ppt/notesSlides/notesSlide4.xml" Id="Rba6fd573ac5b424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df707061ae45e2" /><Relationship Type="http://schemas.openxmlformats.org/officeDocument/2006/relationships/notesSlide" Target="/ppt/notesSlides/notesSlide5.xml" Id="Re10bcca9a8a5412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8e036cf16a4425" /><Relationship Type="http://schemas.openxmlformats.org/officeDocument/2006/relationships/notesSlide" Target="/ppt/notesSlides/notesSlide6.xml" Id="Re4f633672d764c0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a367ebaff04c6c" /><Relationship Type="http://schemas.openxmlformats.org/officeDocument/2006/relationships/notesSlide" Target="/ppt/notesSlides/notesSlide7.xml" Id="Rf08744777eb6445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36f8f1002a463b" /><Relationship Type="http://schemas.openxmlformats.org/officeDocument/2006/relationships/notesSlide" Target="/ppt/notesSlides/notesSlide8.xml" Id="R0aa2d73a3d43471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c96bb158c74cb0" /><Relationship Type="http://schemas.openxmlformats.org/officeDocument/2006/relationships/image" Target="/ppt/media/image3.png" Id="R4d8d3c8c837a47f1" /><Relationship Type="http://schemas.openxmlformats.org/officeDocument/2006/relationships/notesSlide" Target="/ppt/notesSlides/notesSlide9.xml" Id="R852e23856006442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69985757824be4" /><Relationship Type="http://schemas.openxmlformats.org/officeDocument/2006/relationships/image" Target="/ppt/media/image4.png" Id="R027c38bcbc344ede" /><Relationship Type="http://schemas.openxmlformats.org/officeDocument/2006/relationships/notesSlide" Target="/ppt/notesSlides/notesSlide10.xml" Id="Rb2f3b8271178499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0d17c2e1504902" /><Relationship Type="http://schemas.openxmlformats.org/officeDocument/2006/relationships/notesSlide" Target="/ppt/notesSlides/notesSlide11.xml" Id="R8f39073ef45a4ad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66858660244902" /><Relationship Type="http://schemas.openxmlformats.org/officeDocument/2006/relationships/notesSlide" Target="/ppt/notesSlides/notesSlide12.xml" Id="Rb2e8512151b9464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a9eb3f56fa46b5" /><Relationship Type="http://schemas.openxmlformats.org/officeDocument/2006/relationships/notesSlide" Target="/ppt/notesSlides/notesSlide13.xml" Id="R2818ba273b624a2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bf4ed895a8427c" /><Relationship Type="http://schemas.openxmlformats.org/officeDocument/2006/relationships/notesSlide" Target="/ppt/notesSlides/notesSlide14.xml" Id="R87ca18653e8346b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b9590852c34e62" /><Relationship Type="http://schemas.openxmlformats.org/officeDocument/2006/relationships/notesSlide" Target="/ppt/notesSlides/notesSlide15.xml" Id="R0295cc9a1996443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24159d9c954f09" /><Relationship Type="http://schemas.openxmlformats.org/officeDocument/2006/relationships/notesSlide" Target="/ppt/notesSlides/notesSlide16.xml" Id="R2e7dd43a0b7941c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20228523694c7f" /><Relationship Type="http://schemas.openxmlformats.org/officeDocument/2006/relationships/notesSlide" Target="/ppt/notesSlides/notesSlide17.xml" Id="R85ab9dbc1a22485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7dfd26ca70456d" /><Relationship Type="http://schemas.openxmlformats.org/officeDocument/2006/relationships/notesSlide" Target="/ppt/notesSlides/notesSlide18.xml" Id="Rd247129cae444e3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b18d04ad124df7" /><Relationship Type="http://schemas.openxmlformats.org/officeDocument/2006/relationships/notesSlide" Target="/ppt/notesSlides/notesSlide19.xml" Id="R8dac0bedebe8482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83831eef534df6" /><Relationship Type="http://schemas.openxmlformats.org/officeDocument/2006/relationships/notesSlide" Target="/ppt/notesSlides/notesSlide20.xml" Id="R6d06cccb15d544d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6b329486264d55" /><Relationship Type="http://schemas.openxmlformats.org/officeDocument/2006/relationships/notesSlide" Target="/ppt/notesSlides/notesSlide21.xml" Id="R547ced0bbdda45e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cf147dd7364d58" /><Relationship Type="http://schemas.openxmlformats.org/officeDocument/2006/relationships/notesSlide" Target="/ppt/notesSlides/notesSlide22.xml" Id="Rccbc82ff4f964fb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d52c0d0910471a" /><Relationship Type="http://schemas.openxmlformats.org/officeDocument/2006/relationships/notesSlide" Target="/ppt/notesSlides/notesSlide23.xml" Id="R99d3f1e1ff4145e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ea187a94f74d06" /><Relationship Type="http://schemas.openxmlformats.org/officeDocument/2006/relationships/notesSlide" Target="/ppt/notesSlides/notesSlide24.xml" Id="R6a7b5bccb97d4d7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264408f13e49c2" /><Relationship Type="http://schemas.openxmlformats.org/officeDocument/2006/relationships/notesSlide" Target="/ppt/notesSlides/notesSlide25.xml" Id="Rc2911183235c47a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d8a03b51e946cf" /><Relationship Type="http://schemas.openxmlformats.org/officeDocument/2006/relationships/notesSlide" Target="/ppt/notesSlides/notesSlide26.xml" Id="R4f60151486f7486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4f4ec280f24263" /><Relationship Type="http://schemas.openxmlformats.org/officeDocument/2006/relationships/notesSlide" Target="/ppt/notesSlides/notesSlide27.xml" Id="Rfb70fe04423f436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38247f05d84ef0" /><Relationship Type="http://schemas.openxmlformats.org/officeDocument/2006/relationships/notesSlide" Target="/ppt/notesSlides/notesSlide28.xml" Id="Rd984e9b9b81c44c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9b7ffcfc244169" /><Relationship Type="http://schemas.openxmlformats.org/officeDocument/2006/relationships/notesSlide" Target="/ppt/notesSlides/notesSlide29.xml" Id="Re09be084a8b1490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65165fec0d4a88" /><Relationship Type="http://schemas.openxmlformats.org/officeDocument/2006/relationships/notesSlide" Target="/ppt/notesSlides/notesSlide30.xml" Id="R352f3791448e457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805862471f4683" /><Relationship Type="http://schemas.openxmlformats.org/officeDocument/2006/relationships/notesSlide" Target="/ppt/notesSlides/notesSlide31.xml" Id="R0fa68437703c4e8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C9945A-BCA6-4B06-8A9F-851663E16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0"/>
            <a:ext cx="4972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3EE"/>
          </a:solidFill>
          <a:ln xmlns:a="http://schemas.openxmlformats.org/drawingml/2006/main" w="0">
            <a:noFill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83b0001c064bd4"/>
          <a:stretch xmlns:a="http://schemas.openxmlformats.org/drawingml/2006/main"/>
        </p:blipFill>
        <p:spPr>
          <a:xfrm xmlns:a="http://schemas.openxmlformats.org/drawingml/2006/main">
            <a:off x="7695746" y="476250"/>
            <a:ext cx="3991884" cy="5676900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b97fc16e684a18"/>
          <a:stretch xmlns:a="http://schemas.openxmlformats.org/drawingml/2006/main"/>
        </p:blipFill>
        <p:spPr>
          <a:xfrm xmlns:a="http://schemas.openxmlformats.org/drawingml/2006/main">
            <a:off x="685800" y="602579"/>
            <a:ext cx="2333625" cy="661742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4A7CFD-CCB9-4C56-AE65-9AB8A1FB0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VIETNAM UROLOGY WEBINAR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58E9D4-B80F-46B2-ADFF-738596DB5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6191250" cy="2257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49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MegaDerm</a:t>
            </a:r>
          </a:p>
          <a:p xmlns:a="http://schemas.openxmlformats.org/drawingml/2006/main">
            <a:pPr>
              <a:defRPr sz="49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49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Penile</a:t>
            </a:r>
          </a:p>
          <a:p xmlns:a="http://schemas.openxmlformats.org/drawingml/2006/main">
            <a:pPr>
              <a:defRPr sz="49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49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Augmentation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9B95B4-D0E2-4413-98D1-6C2806911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5143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Perioperative Practice and Clinical Pearls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8DF60F-6626-432A-835C-527ADBBD2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5372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5B8261-9DEB-4895-9719-2E6F53EAD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48325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Jinmo Koo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D2842C-6DB0-4E86-8195-B939889C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5715000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21 October 2026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EF4646-081C-4BA1-8234-6721E7CAA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 · Perioperative Practice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5752AF-2416-4E4A-943A-6FA8D93A6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5559425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76E215-03BC-40FF-A7C7-A47BE781B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OVERVIEW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25C993-1F6E-4AED-86E1-0836C27A1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The Perioperative Pathway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2DCC63-21F2-4E83-91AA-05FF0B62A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3340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727B77-8CE9-43F0-9530-30272D15D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334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01F1CA-EEA1-4438-A437-FE19C3128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57550"/>
            <a:ext cx="3340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Before surgery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CFF71D-FC91-4118-A6C2-895271103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33401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Consultation, testing and preparation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C95179-58C9-46D0-B2F9-7B8F90482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950" y="2457450"/>
            <a:ext cx="3340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0F7522-4B5E-4F14-84F7-B2698C5EB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950" y="2714625"/>
            <a:ext cx="334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D75CDC-0D77-459F-9C7D-4B250F5D6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950" y="3257550"/>
            <a:ext cx="3340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During surgery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6DC288-40E3-4A11-A655-1331AB83B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950" y="4400550"/>
            <a:ext cx="33401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Access, graft handling and adjuncts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355745-D53E-4ED4-9C51-91500F392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6100" y="2457450"/>
            <a:ext cx="3340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6A8877-1EA4-4B29-904D-9FEEC5E8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6100" y="2714625"/>
            <a:ext cx="334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BC5AB6-4305-455A-B109-C324D23C8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6100" y="3257550"/>
            <a:ext cx="3340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After surgery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8BB07B-7772-4C7B-BD99-7A2F5FA33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6100" y="4400550"/>
            <a:ext cx="33401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Recovery, follow-up and complications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ADD1F3-844F-4DF1-A84E-0815499BA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 · Perioperative Practice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FEA224-2519-41F0-B9CC-0B77482F7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67489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745D33-6005-4D44-8F8D-E257290D2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OVERVIEW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C78ADB-3AB3-421B-A827-0E532E909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The HIGHST 5S Approach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DD91C5-A283-4BA7-A6E8-36A145D1E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D2F696-6E81-4528-BB3E-364BD6087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531BC9-4040-4B2B-8895-30B2697EA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95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Combined procedure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BC59A2-FFB4-4A1E-ACB2-C3CFF276E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The framework for the HIGHST operation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DC55D2-E661-4F03-A32B-FB3173E5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B0E59E-7F59-4388-A675-A47D3F0E5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BC5D3C-6EA4-4A90-8388-15F9200B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Individual operative plan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7947C3-DE4C-4802-AB5F-DB0574B26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The components selected for each patient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2B9D08-DA1F-4D6E-A2A9-6E3CD43CE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 · Perioperative Practice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12AC10-348F-40A1-BB8A-3B0DB389B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73760628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50B154-D52A-4332-9231-C55CD3F2C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PREOPERATIVE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35988E-B33F-42D3-8899-5A28D893B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Consultation and Operative Planning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D9887F-0097-4433-86D0-FD0576E56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53C9D8-4B5E-4F75-8FF2-3D0BC815B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8AD28E-A778-4C34-958D-A1FB9E4B0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95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Consultation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3F6A6E-9518-4BA0-85BF-589553934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Patient assessment and expectations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2E1920-15B8-4F2F-8478-B2D763E8D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71B86D-106C-4BEF-BC1E-827E3994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A3E041-448B-4C97-A917-59AC5C716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Explanation and consent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409CFD-24F1-4019-8E51-98DF325EC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Scope of the procedure and preoperative documentation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90371C-1739-471C-85FE-29D6010AB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8890DC-8B3D-4081-AE22-42A623F8D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84A6F7-5D7B-45BE-83AB-D7C060793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81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Patient instructions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01284F-8114-44AB-B58A-FCFBBD1F5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Preparation before admission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6871F7-785D-459D-905A-A77DB10EF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 · Perioperative Practice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54D0F2-B8D3-4FAC-B815-3FB4348F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1077757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4722F6-72FF-43F7-BA3B-89DE17F5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PREOPERATIVE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3DF2C9-33C4-4954-BCA4-BAB58A82C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Blood and Urine Testing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1C52D1-3D44-4EA7-8DF4-26A3F8176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73527F-F734-48C8-BAF7-D95455931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5E7433-C1F6-4A4C-9153-CD03D675C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95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Liver function and glucose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AA6B97-720C-42AB-AF7D-9D4EEF30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Tests described by the HIGHST surgical team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B534F8-145E-474E-8E20-A1373354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5BF241-48C9-4441-8141-A6375C186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388259-ADE4-4E70-A1F3-2AE7EFE91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Inflammatory markers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B4DE92-C71A-42D4-8812-B6731C384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Review within the preoperative assessment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11431C-AABC-462E-B2AF-378F6E695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3CF440-1C12-4FF9-B737-11EE2EC77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D4677A-6D94-4490-A497-218838227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81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Sexually transmitted infections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BCBD08-7A05-42D2-845A-4BDDC3BC7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The clinic’s screening panel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7666BB-7AD8-44F0-9FCB-05D4460E6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Testing categories reported by the HIGHST surgical team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9CF733-4F37-4731-A80A-BB5F46991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7990709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A60721-9976-45C3-ACBB-2E3F4A27B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PREOPERATIVE / HIGHST CLINICAL PEARL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BA435C-D2FC-424E-9A28-B05C5E1EB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Operating Room Infrastructure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FB73AB-A55B-49E3-A907-105CC7D97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30E221-1E88-4BEA-92A4-954467AB8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DCE4F5-9BF9-4616-B044-B72C4C9F8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95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Air and room surfaces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9072E9-3033-4DCF-A110-9BF32F2A7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HEPA filtration, positive pressure, antimicrobial walls and flooring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4C7CA8-2692-4E87-8610-0D2569087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4CBF93-DA3A-44F2-ACD6-414CA0294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45994C-2292-4818-A6B1-84111B898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Emergency power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285423-4B4E-4BCB-9923-127875F8A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EMS generator: reported backup for one hour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DB8ABD-5C21-49FC-A110-6B862DE32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4ADB89-3CFC-46E3-8744-EBD577738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298915-EF1E-41ED-A213-CF464971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81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Room surveillance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0A7D18-486C-48F3-BDEE-D81038E6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CCTV installed in every operating room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C57483-971D-441D-87CD-F82812917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Facilities and backup duration reported by HIGHST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244079-8452-40EA-B956-8D47A8838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332727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4E3701-8808-41A6-BBDE-28D9157AC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PREOPERATIVE / HIGHST CLINICAL PEARL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705422-A781-4116-97BF-696D148A5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Single-use Drapes at HIGHST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CF1A70-CD48-46D0-A928-8BC00F6C0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9DFA5A-D58A-48ED-B2DA-7815EFDE7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2E46B3-A71F-46FB-AA6B-CADEFE0F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95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Packaged drapes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7DE18D-C6CE-4FEC-87DB-0C484D16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All surgical drapes are single-use, as reported by HIGHST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2FCDA4-0000-48AF-8D40-62570C5F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DD7E8C-F999-4449-85B6-B840C5B0D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401506-4A39-4335-8E74-77D719DD0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Opening and setup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033725-40F5-4E41-BF29-B39F82AC2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Package opening and preparation of the operative field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9A3D67-D7C2-4A2D-8DDC-FE6C820F5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 · Perioperative Practice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FECEE-5220-4D72-81F6-7A68402DA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90147512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092A40-DDA9-4EE4-9541-D94501EC1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PREOPERATIVE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94D4A8-BDB2-4C4A-A875-C523EF6B6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Instrument Reprocessing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FB2DB4-265E-4712-8425-BEC565321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D2C29F-2013-425A-AEC0-C6D0CC21B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0A14C3-A554-4C2D-827B-F8C339DE1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95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Cleaning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223865-5450-497F-BDF0-5775B8AD2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The clinic’s sequence before packaging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43DF2B-A22D-44F1-A46A-68D7F8E14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EB1890-1650-4C82-8AC1-4AC067D46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9FBB46-BF95-4C4F-A834-417D12E9F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Packaging and sterilization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AEA352-B956-41B3-8C31-B0691F633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Equipment, cycle and process checks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F75644-37A7-4861-89D2-5E7759B0C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841786-BAF5-4303-9D7C-D09281DC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F3C324-D77C-4292-A2F8-CA8C9E6A7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81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Storage and release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F501AA-42F5-4FF7-B96C-5D0D83E19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Preparation for use in the operating room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14BE48-425D-4A07-BE9F-B8AE41EE3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 · Perioperative Practice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2CE053-D62C-4C04-B50B-9D136109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3280744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7CCF8C-A04F-4EA7-A7CF-EBC719D3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PREOPERATIVE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0ED40B-8033-441D-9DA5-96BB90F6D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Dermal Graft Specifications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73F0D5-A3FF-4730-85D1-F4D35BDE7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Thickness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ECD776-E871-46FE-9059-414D280CE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271462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00" b="0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7800" b="0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3–5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31D45E-DAF6-4585-B885-E7C778AAA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362325"/>
            <a:ext cx="114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217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mm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3BED40-924B-4CC8-89D4-1D0109192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3387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Available sizes at HIGHST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063608-EA7E-49FB-A2F7-E611EE524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5 × 6 cm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EEFD95-7608-4466-99B8-4F4DA7B00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857750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5 × 8 cm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457A93-931A-47C0-BE2A-0CE560BED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76875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5 × 10 cm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48B857-6AEF-4FDF-A860-B00008C57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5476875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6 × 12 cm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0F6B41-4204-40BA-8A29-BB755CCFA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71700"/>
            <a:ext cx="4267200" cy="382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EF"/>
          </a:solidFill>
          <a:ln xmlns:a="http://schemas.openxmlformats.org/drawingml/2006/main" w="0">
            <a:noFill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8d3c8c837a47f1"/>
          <a:stretch xmlns:a="http://schemas.openxmlformats.org/drawingml/2006/main"/>
        </p:blipFill>
        <p:spPr>
          <a:xfrm xmlns:a="http://schemas.openxmlformats.org/drawingml/2006/main">
            <a:off x="8174686" y="2362200"/>
            <a:ext cx="2395828" cy="34480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0C4B5C-B1A2-4412-A7E0-EE01CDE7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Available specifications at HIGHST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E4F86E-C5F7-4F9A-A094-C126B2454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8206618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4E29E7-5E0D-486D-830B-F3C682F74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PREOPERATIVE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CA71F6-66AE-4E9F-A9A6-D498A827A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Graft Packaging and Material Setup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FAD60F-0DA3-4F85-912F-8CC1539F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3762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1"/>
          </a:solidFill>
          <a:ln xmlns:a="http://schemas.openxmlformats.org/drawingml/2006/main" w="0">
            <a:noFill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7c38bcbc344ede"/>
          <a:stretch xmlns:a="http://schemas.openxmlformats.org/drawingml/2006/main"/>
        </p:blipFill>
        <p:spPr>
          <a:xfrm xmlns:a="http://schemas.openxmlformats.org/drawingml/2006/main">
            <a:off x="2764730" y="2190750"/>
            <a:ext cx="6662539" cy="37623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68C47F-AC31-48F7-B242-F4E29E706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 · Perioperative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7E247D-6373-4F71-AAF4-6A87FC972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07131470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FAF415-1127-43E1-A1B0-383E0498A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PREOPERATIVE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ECCC7F-91A1-4313-B2C9-F75DFBAD2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Patient and Team Preparation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F32ADA-9F1E-44D6-971B-D2CC2785E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48185F-3C54-42F6-90A7-139BB31D9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6D3E43-DEDE-40EE-B37C-B5DC37305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95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Team briefing and admission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C4EC50-45AA-4581-A519-751D2FCCD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The operative plan and preparation checks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000789-012F-4F24-B1F8-E90C52434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DFBF28-896C-443C-8EA3-6422EF714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DF3CFB-11F5-491D-9E80-9D7FE28C8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Hair preparation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3F88FA-FACA-42E1-9314-53928219F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Method, timing and extent of hair removal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B3EA6C-36F1-46B2-812E-907313B75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5ED40C-EF9B-4FCB-B0DA-16F0AFE5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A4B083-E882-463C-9BF1-82C511EE2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81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Blood pressure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2906AD-92BD-496A-B4ED-FE934B82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Measurement during preoperative preparation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CD0FA0-7879-4527-8F99-C193863F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 · Perioperative Practice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1C772B-A701-49E5-88BB-22892F73E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57668232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CB3426-9262-4488-9299-18BD922CC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INTRAOPERATIVE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7C6406-6C49-4135-A987-483141B77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IV Access and Sedation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56CC8C-50ED-400D-AAB2-B4D07EF7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C7F979-0FA7-4A97-BCED-2C75E41EE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9CA1B0-1D26-4508-B12A-9016751EA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95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Intravenous access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9BC0D5-22A7-4B7B-8F20-3EDAB1B52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Preparation for the clinic’s sedation workflow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7D9EA9-DD42-4E70-82E4-70290F6EF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E51A17-4A3E-46B4-B507-408B9E0A1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D8ECBA-1627-4287-BEF0-2D19FB155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Propofol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E970D8-600A-436D-9B61-B5EEEA162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Agent reported by the HIGHST surgical team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5605BC-5FBA-4DBF-8583-BA40166A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F05F00-F229-4397-8599-B2F57CABD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C4A60A-E166-4D7A-8A59-53B24558F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81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Observation and handover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331C2C-1C81-4D40-B041-A6D1CAB21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The team’s monitoring and recovery process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737B04-184B-4EBB-B46F-5D1CB3E8F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Clinic-reported workflow; dosing and monitoring protocol to be specified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742AA1-132E-4594-B5CD-ABE548104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059387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B2BBCC-9179-4578-9B88-38AC3497A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INTRAOPERATIVE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D4A98C-6429-4402-973C-6E7EFB15F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Skin Preparation and Draping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E1B4CD-2C7F-470C-B599-91EB37CF0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0D08F2-FAC0-4CCE-9285-234A1C7BF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70CA35-6138-463A-ADB1-EF88C9392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95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Skin preparation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24CC54-4895-4701-B2E2-B946E9E00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The product, application area and sequence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69EC97-99A5-4AD4-9BC1-81E1A067F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72754C-2CB9-43BF-8360-CC0E00B01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CA67CC-EF20-4EB6-AF90-60FB79977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Surgical drapes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24248B-9995-4215-A58E-64CB6CA06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Single-use drapes and the completed field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438677-77B2-47AA-AD40-5B1215DC7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B04866-C409-4BC4-8F35-641426A54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8FE885-720A-43E5-BC3A-9093D98C4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81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Before incision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D29F3C-E31F-4434-A434-C576CF28F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The final arrangement around the operative site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380D79-2BDC-48EB-8008-91017F313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 · Perioperative Practice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3D6270-3DBB-4F8B-8EB5-0DC1B9A27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20206955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997E46-6C1A-4DCB-84AB-84767620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INTRAOPERATIVE / HIGHST CLINICAL PEARL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AC59AC-36C3-4417-A78A-7DA2B3924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Tegaderm Around the Operative Site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9D4A71-E077-441B-8ECC-4BF709259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E4D1DB-3215-4327-A0A4-8574A9057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91A882-E68B-4991-B724-F892C770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95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Halved film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9C4AE4-9A86-41C4-A04B-40E919EBB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Tegaderm is cut in half at HIGHST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5D8A1B-A1D8-498E-A2E8-4E9DDA0B8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4F677C-B8F6-43A8-A77C-1032CB35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057A4C-5D88-43CF-80CC-CC80B1947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Placement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D5EB12-248F-4732-8EF6-FAA08CFF4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The film covers skin around the operative site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D07942-EBE0-41B3-BE42-87BAB5222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C0B99B-D12A-4772-9BD5-7BCF55C26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A031FA-2E58-42B2-9A0E-1E46B3272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81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Purpose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38D196-6683-44FB-A9F6-974384910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A barrier to direct contact with surrounding skin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E8B271-AA48-4892-B776-854B7A183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Technique and rationale described by Jinmo Koo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4D5C7B-AB23-4EBF-A5D0-9D9A6172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2891590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C5B2F4-E06B-4CEC-A4C2-59E7D2A87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INTRAOPERATIVE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ED3144-9B2B-4FE9-94A6-3C008B85D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Preparation by Graft Type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462481-94E1-4099-A36A-DBB2C1E28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5105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00B5FD-D9B5-4FEF-8E3E-E29FEF0C6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5105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21AC0E-52A8-4263-B71F-4051778C5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57550"/>
            <a:ext cx="5105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Hydrated type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7B2A7E-8914-4036-929A-D86909D63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51054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No preformed openings. Openings are created manually at HIGHST.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0F780C-4CF5-4326-8184-87ED2CA59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57450"/>
            <a:ext cx="5105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5AE50D-DC8A-44AE-B342-0B93CD38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14625"/>
            <a:ext cx="5105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0F3E10-84A1-4D85-99F3-C00742F5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57550"/>
            <a:ext cx="5105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Dry type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890F8F-4B32-465F-8884-AB7948D2C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00550"/>
            <a:ext cx="51054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Pre-perforated graft. Hydrated during preparation until soft.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C38CA3-1A8F-4825-A191-7C758BF5C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Material descriptions supplied by Jinmo Koo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2BCF51-3943-407C-965C-129AB9FF2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4084163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155352-BDB8-48C5-8D2E-0D7F3C251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INTRAOPERATIVE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36827F-B710-448D-A780-279B46881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Graft Hydration at HIGHST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864C04-9FA4-458B-83EF-6328A04D6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165F49-D52B-428D-82C6-4B603CAE2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6CACDF-4574-4F91-B0C3-681A5C8D0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95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Preparation solution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DC5D34-104F-42D9-9C55-5CC580F92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Saline with two antibiotics, as reported by the surgical team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50DCF9-25EC-4C4A-B1ED-C225AA30E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6216FB-2139-4383-A6D6-F2A87D90E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0FC182-E88D-437D-8A90-6D78D5408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Graft handling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BAA2A3-3472-47A7-8E91-832DFECAB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Hydration during surgical preparation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EE5124-13D4-49F6-9B34-8A1E4EBB4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B59D89-9D08-428A-97D6-2EC539D02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D0372A-15C6-4249-B33C-1DBAC7A2F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81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Material assessment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2DAC23-1BEA-46D5-9067-64B7B9421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The condition of the graft before use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919E1B-75E9-48ED-8028-1C73DD0A6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Clinic-reported preparation; agents and conditions require confirmation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506F10-5644-42F4-890B-4BB20BF8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63803592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A608EA-DFAA-4393-8851-5DA71C775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INTRAOPERATIVE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9AF9E0-4D10-4344-AFBD-B7E49071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Two Incision Approaches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AA8971-5B8F-44E3-B714-0B700EF76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5105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569D7C-15D6-494D-9738-AC83C1397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5105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1BD48B-F02F-4E90-A03E-E9647933A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57550"/>
            <a:ext cx="5105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Pubic incision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000E55-E4BF-4BAE-8E77-781385E9E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51054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Incision in the pubic region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9EEEF3-C59D-4303-AB22-29ED7708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57450"/>
            <a:ext cx="5105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1856D8-DE31-4945-A835-56F8E1B3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14625"/>
            <a:ext cx="5105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BDC2B9-ADAF-4B60-9DD2-498B8F8B0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57550"/>
            <a:ext cx="5105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Circumcision-line incision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AF1977-917B-4505-B9C5-E3DD99DB6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00550"/>
            <a:ext cx="51054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Access through the circumcision 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2C77EC-A76D-4BC9-BD04-70ADA1E8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980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05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Choice of approach for the individual patient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CEE3E3-C6D1-4D35-B398-A6C6D9064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 · Perioperative Practice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E58F74-99FE-40BC-B7AB-0A186A3BE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7288015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1E551B-845F-4D84-B201-7BC9B8078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INTRAOPERATIVE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6F3668-3229-4B5B-BD3B-F946520C0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Dissection and Operative Decisions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8E2FE7-0A35-41A5-9C42-9E5114905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FB70F8-594D-4B3D-B34F-4116F0560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362B7F-54A5-4D56-A325-8FCF8B204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95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Anatomical landmarks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B5BF15-50FE-4BB2-B35D-EA1DCC53B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Structures identified in the actual operative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6F470D-D126-4C8A-8078-84B03C4DA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36E9EB-0018-4457-B74F-3A2759C2C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046454-8CFA-40A0-B30F-3F9DDF013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Plane and extent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69E5DF-522F-4371-AF2F-CB83CD9AE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The surgeon’s approach to dissection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09103B-3DC9-4071-A297-869B5D36E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535977-4A03-410A-8EC4-9EE3041D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15587D-A7DC-4D73-B362-1CC8C4C9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81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Decision points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B47CD9-8A99-4C89-A786-7B1ED175B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Findings that change the operative plan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1FF33C-A69A-4F29-B210-CEC90438C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 · Perioperative Practice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972366-BEE2-4D2E-BF94-CD567BA9E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6641238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CD8269-8954-4C1B-911C-C8A510CCA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INTRAOPERATIVE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14435E-2144-4C08-930D-D56AB9F6F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Graft Processing and Placement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BB1D51-529E-49AF-AC4A-18DB431B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D40EC8-3B77-48A7-B0CC-1B24FAE5F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994F08-993A-44B8-9D99-6FAFEB873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95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Processing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7604E5-31AB-41D4-813D-D24F72967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Graft preparation for the chosen procedure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03858D-3AB1-4C23-9E48-90C110E3A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811E0D-0127-4067-8383-02474DFDA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A1B19A-AB6A-411C-B011-9FBAD682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Insertion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E9601D-31EA-4256-A506-FB2B33FB6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The route and handling of the graft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95FE90-C5FD-4BF6-AAB3-76153C1BB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1C1268-FC7C-45F6-96F5-755FECF3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1BFC9C-4E6A-4A0E-8117-14055F70B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81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Fixation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C9E78F-3005-4CF0-8251-DFB97C92A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Position and method in the actual case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29B1D7-D9C3-4C77-9A94-C9C783B2A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 · Perioperative Practice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C08C20-6ED1-4337-8E75-BC86F4A5E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92439499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A29308-FA2D-40BD-889A-9587B6EB3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INTRAOPERATIVE / HIGHST CLINICAL PEARL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DC86B5-3D2C-4D62-90D0-048689DDB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The HIGHST No-touch Technique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A7B5F1-4940-42C2-BB30-C1BBC9AAD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654746-DEEF-4125-BEA7-E24EBE451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72D253-DBF2-4BE7-B6B7-5F2FD4FFD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95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Points of contact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679BED-B751-4C73-B2C4-E3C2B3457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The surfaces the surgeon intends to avoid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FF1C35-AE5F-4CE7-B13B-ADFF50B37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120CD4-F1ED-4250-AF28-EDAFF99A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CEE24E-3523-45B3-ABD2-E0FD0E36B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Instrument and graft handling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D9B33C-7B58-4F19-B6A8-9B4F418C1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The maneuver in the operative field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02FACE-7A6D-4266-8012-2316A06A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B1BCBF-36D2-4A12-9DD3-A6BF6019A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372207-D067-4F3F-B701-27B854C2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81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Technical rationale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EE0B05-7D40-4F8F-800A-954021F3F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The reason for each contact precaution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559ADA-FC7C-4064-B752-F1DB5C1A6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 · Perioperative Practice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153C6B-AC95-4D6E-8035-9703687FD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96877224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FA721F-F57E-4DC3-AC35-670B1DC55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INTRAOPERATIVE / HIGHST CLINICAL PEARL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FCBF2F-1356-4C7B-BFED-3FC9B78B6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MegaFill at the Graft Edge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F0ADBF-9502-424C-A54F-C6F05B805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499D08-83E4-4D1D-A88A-9DE4CD779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BE7485-EF1B-4607-827E-71E4E01D5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95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Target at HIGHST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1598B7-F32B-4F73-AD11-F7F424437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Contour step-off at the dermal graft edge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56CD7E-5DE0-474B-B52A-11D75694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406BB6-6B66-401F-86BF-9633FCFCB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E2D77B-FE13-455A-854D-35009657A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Application in the case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CBCC0D-7C20-4764-9EE5-59C400F14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The area and sequence selected by the surgeon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67EC1D-C91A-47DB-BE4F-578633E51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07DC8E-C4E5-4C1D-8EEE-73A47F0CF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D14BCF-7128-4457-8206-0696C5DEC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81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Contour review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D53D04-F42A-48FF-9775-1DA60C6C8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The appearance before and after application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0492C5-E850-4A75-8E5C-684E2355F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 · Perioperative Practice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6948BE-1A90-491C-AF0F-22C97F1C7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4890305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B69CBB-29F9-4DBB-887C-7C08DB2E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INTRAOPERATIVE / HIGHST CLINICAL PEARL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074B86-B059-407F-998C-896B0A14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Adjuncts in the HIGHST Procedure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C92A48-C33C-409A-86F3-25DD4C3B3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5105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3A7E17-9E8B-4CAA-9A28-AA82DF4CC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5105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CB193C-D4C7-494B-BC49-C6C5B7C3C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57550"/>
            <a:ext cx="5105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Anti-adhesion agent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5D8364-2540-42AD-811C-73F385394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51054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Use reported by the HIGHST surgical team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B743D5-DF6F-41DB-AC0E-5B5BD0548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57450"/>
            <a:ext cx="5105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6FAF9A-D796-4289-99E6-9CA86FE3A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14625"/>
            <a:ext cx="5105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9629E5-D036-4A13-94A8-078A50B7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57550"/>
            <a:ext cx="5105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70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PDRN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73AFCF-005E-428B-83F1-005B79F65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00550"/>
            <a:ext cx="51054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Surgeon-reported aim: support of graft integration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F6E6AC-8887-4B64-B103-1705CED81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Reported clinical practice and intended purpose; efficacy not established here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C7372F-3636-42AB-92FE-22FEF51C6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28869349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25A4CB-DF6F-47EB-A3A2-BAB3FC0F4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INTRAOPERATIVE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122B37-5D69-452F-A24C-20822918E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Hemostasis, Closure and Dressing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42F479-4A19-46CE-88C9-183BC5506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E42399-CBDF-49DA-9FF9-D3DB85E05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1965EA-5F56-4EC8-9FD3-6CA19EBFF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95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Hemostasis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010139-9663-44D2-81B1-EE74E4730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Findings at the end of the procedure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13E5F2-924B-437F-8E4D-2ABC11594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9FE2EF-2977-4627-A553-9FC1A02F3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2D4B66-E036-49DF-840A-90BBC482C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Closure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3AD265-6331-4A90-89A4-A29CF689F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The surgeon’s closure method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B21A58-1D84-4D93-8696-7DBDE0D42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2D8D1D-C9CA-41BF-9483-C8A936571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001081-C7E1-4078-941C-94277D10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81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Dressing and final check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FE8994-4E6F-4FE0-AC56-B4A188549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The condition of the operative site before handover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A6848E-9F69-44CF-94FD-B552AB714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 · Perioperative Practice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2674F8-4C44-49B0-9114-104E6F54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50315039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9E63C5-C40F-46BD-8C4E-8B6145D52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POSTOPERATIVE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62A201-6319-459C-9A5A-3C3EEE906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Handover and Recovery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950D76-5E2A-4913-9422-477C69951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EFF7DB-6F27-4C8D-BF8D-4FF5C7D7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0B6B62-DF64-4C52-8BE6-F76C33044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95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Operative handover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E39A5E-0C56-4669-882F-61CF5DDBE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Events during surgery and the recovery plan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D8BBBE-11F8-4241-B77D-DF92E5C49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E34FD9-1EE1-46B9-87D4-A81A92084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1F8BEC-F1C6-42A4-B5FA-DEF9FE08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Observation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64CC65-7F51-4553-8C53-3FDBE602C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The patient’s course after the procedure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D4C503-6C57-48F4-8336-9975F91F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FCC63C-3B07-4A0D-907D-F5B9514B7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BC953B-9E2D-4B45-BD9E-906662380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81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Discharge 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8C4223-1D16-4FA6-94A5-C9326CE43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The team’s criteria for leaving recovery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9C737A-0A33-43CE-B02C-D1D4267E8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 · Perioperative Practice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6FBE76-1D0A-4D2C-BD1F-6376E65F9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85425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6EB680-D3AB-4D42-956F-DE16C3DEF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POSTOPERATIVE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1E7D4C-5DBB-4CFB-9877-3C4BEF47A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Discharge Advice and Follow-up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2118A1-D76E-4617-94A0-062BAD0BE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291C36-58EE-4F35-B7FE-1C05ABF4C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EBB8EC-961C-4CEA-8064-F7BB6BF47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95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Patient education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72C633-11DC-4568-85E0-94F73F047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Dressing, medication and activity instructions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47E80E-B0C8-48F5-8662-4E01599D9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1A71FC-BF06-4FCB-B571-61239649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84CF78-1959-40DC-8CFB-3C742EFE7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After discharge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80FEBB-F4F8-4788-AE17-146A63A2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Contact with the clinic and planned reviews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199754-14EB-4D60-9AFD-515C9A10A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1D38A-DB9A-4613-B767-0C2A5A3E4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64374C-B3F1-45B5-8A1C-F67E68DD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81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Reassessment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5CA1DF-41C3-4CA0-BAC2-062C9AA8C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The route back to the surgical team when a concern arises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08AF2A-440E-4B0B-9218-FD8F02C9A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 · Perioperative Practice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B3B4F2-6A06-4945-B74F-40C689330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96887688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18A681-3620-4170-84EC-FCDA0F257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POSTOPERATIVE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355B6C-DBFC-4EE0-97A8-0DF6A327C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Complication Recognition and Response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A7B082-B930-4B3F-918F-22842A61D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D601E5-F9A5-4F0D-B7F1-DE4B90BA6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704228-75BB-46EC-B82B-277879B1D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95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First concern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8C7C5A-E23F-4EB4-AA23-799271E1E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Finding, onset and the patient’s presentation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F0C523-882A-4E7F-8A75-383AFEE3C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F2F117-9062-4153-9C87-D48EB0DF6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A0C9EF-2875-44D0-B8B7-7260A8C38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Clinical assessment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BDD3C6-C54F-4BA5-96E6-B361715C4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The surgeon’s reason for observation or intervention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59DDE7-A5E9-4ED5-AE16-78D0B6C06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78A58A-6391-4F0F-9392-02C293D1A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85A787-6317-4EBC-9590-575529DE6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81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Management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1EFD7B-6707-4D65-B5FC-8CF6C5DBD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What the team actually did in the case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A9D1A4-3F14-42E7-9A94-642782D46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 · Perioperative Practice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6BA4C4-06F1-4001-AC02-0D552C67E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1380913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C08123-9028-4C8C-B790-B0F3D5C89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POSTOPERATIVE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419F3C-4B3B-492F-A839-FC3CEADA2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The Course of a Complication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EAA242-615D-4DAB-A713-D43804C81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EF427A-878F-4215-8728-A1C81D4B5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410C0A-546E-47F9-A734-067D22670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95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At presentation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0A610B-2A50-4077-9E50-59A63652F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Time from surgery and the initial finding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C2B89A-2E41-4F95-A9A1-7A0A4FF59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05B886-B037-482D-8BB8-B0343F5A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1C9E67-7B6E-446A-B4CA-41B9C63A8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After management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DD4187-EC3A-49EC-B732-167DD0D3B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Clinical course and subsequent decisions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C1D5EB-0FED-449D-AFAA-76B42390C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979EFD-1DEE-4723-84D5-6C9CBFA2D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98D3DC-FB80-41CE-AD59-408460140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81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At follow-up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93D5CE-DCCC-4CDC-B1D0-04F7AF1F3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Outcome and the change in future practice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8888F-8C92-4E9A-8DD8-4A5CF66A6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 · Perioperative Practice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0A96A4-66A1-45AB-AA60-CE075E186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35450031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E8CFA8-20C1-4F7F-8996-686EB6DD8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POSTOPERATIVE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CE2D4C-9DF3-4739-A572-915086669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Outcomes and Team Review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4F1D68-3D6F-4319-AF89-AF408025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6AF0E3-1DA5-4E0C-9268-54BE28E40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62FEE6-5D5C-48CF-ACC2-8BCB36876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95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Patients and follow-up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6CDA19-24A1-4101-8E0B-88BE0F087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Denominator, observation period and follow-up completion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6D3FA3-1DBE-425D-857B-3C2F89D7A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16C252-DA04-4082-9BAB-6A8E5DAD5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02EC9B-9C96-4284-94D3-BD1638EFF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Outcomes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01F4D8-262B-4ED3-922E-5A3FB9A2B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Measurement method and change from baseline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710AB5-1083-47BD-8518-D714EA8EF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A2E769-C912-4E05-AD8F-7D252E57E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6852BE-0991-40C3-8E84-599ABE327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81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Adverse events and revisions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AF04A4-163C-44F2-99B4-361248AC3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Definitions, counts and clinical course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D481A1-3528-47FB-BD2D-15C27916D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 · Perioperative Practice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C13A5E-A481-4692-9350-89CBAB440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21587549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7BDDBC-4E08-4E1A-AA27-FF35E0892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POSTOPERATIVE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92DD57-04E7-48B3-A1E6-893406C8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A Case Across the Perioperative Period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267D7E-E8F5-4007-9DE9-68C34C11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3340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1FB180-DA86-4857-8766-423FC16E4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334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4F2706-0980-454E-B48B-FA7F8B03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57550"/>
            <a:ext cx="3340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Before surgery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963FBF-40C4-485A-9A80-60E5965BF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33401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Why this patient and this operative plan?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CF1167-938E-4B9D-B493-B38154F4B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950" y="2457450"/>
            <a:ext cx="3340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329538-F224-410E-9E50-69B6A2236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950" y="2714625"/>
            <a:ext cx="334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1DFE62-7286-4785-B5DE-BFB2CFA63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950" y="3257550"/>
            <a:ext cx="3340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During surgery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CA4B3B-9A49-4ED8-B808-44317E97F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950" y="4400550"/>
            <a:ext cx="33401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Which access, graft technique and adjuncts?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958835-DD43-4BEF-96FA-6D5232C26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6100" y="2457450"/>
            <a:ext cx="3340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071B4C-70EB-48D7-87C6-7352BAE86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6100" y="2714625"/>
            <a:ext cx="334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4A9DA3-8048-4DA8-8A32-D049D7E4A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6100" y="3257550"/>
            <a:ext cx="3340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After surgery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F516A4-E568-4C3D-BF37-A05E476EB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6100" y="4400550"/>
            <a:ext cx="33401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What happened during recovery and follow-up?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423A57-1D40-419C-AB28-6F075C640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 · Perioperative Practice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C78869-B7AF-4E4E-AF26-87B1166BC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39376361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3544AF-343C-420F-8F5C-D749E5DD1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SUMMARY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A83985-3EC8-4B25-9F54-E5F09AB10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Perioperative Lessons from HIGHST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F94CDC-D4EB-408D-972C-C9D507140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3340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F5477A-B2D0-4D82-9F23-1A2365054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334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A7C1F6-4455-4503-9AFF-E7A414B8F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57550"/>
            <a:ext cx="3340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Preparation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E1E764-02C1-4638-8610-B91C42074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33401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The room, disposable drapes and skin contact barriers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170C67-F9B3-49C1-A94E-90F8F0550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950" y="2457450"/>
            <a:ext cx="3340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398B03-7A36-4727-A93B-FF60BE991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950" y="2714625"/>
            <a:ext cx="334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9A6471-EA10-4808-8D9D-1BFA68EC0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950" y="3257550"/>
            <a:ext cx="3340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Technique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EB86A2-6183-4E53-B0BA-A940399A1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950" y="4400550"/>
            <a:ext cx="33401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Incision choice, graft handling and edge contour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2696C9-E18E-49CE-B39E-6DE172303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6100" y="2457450"/>
            <a:ext cx="3340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915D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90CAA6-2363-4CE0-BC18-30A572E96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6100" y="2714625"/>
            <a:ext cx="334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1FCE7E-7ECB-4D7E-B8BF-AF1446C2F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6100" y="3257550"/>
            <a:ext cx="3340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Follow-up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DC9DE5-7714-4F23-90A3-91E8FE127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6100" y="4400550"/>
            <a:ext cx="33401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Recognition of problems and lessons from actual cases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3F5833-89C9-46C1-8106-294905FE7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 · Perioperative Practice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1EC331-6A22-481C-AE65-C241DF71C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174368956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4F8F0D-ED7D-49C9-A57E-C3C23DBE5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DISCUSSION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5A2F1B-41C9-4CB5-A2FD-7E839363D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Discussion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5DE03A-0A89-4EA0-8F4E-4E6DAFB1B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827941-CE32-46EB-9214-CE872718A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71F5CB-8A99-4827-B1B9-AE5260F8F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95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Patient selection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0B306C-0D3C-411F-8F2A-5BFC181C5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Which findings change the plan?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CC8A2C-73F8-4BC0-ACC2-B1BE573D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0F418C-2F88-46D0-B0DC-51BB73F62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887AB2-E20E-4912-B014-5AA6E946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Operative technique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C9DEF6-0F93-4F50-8084-96EEA035F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How does the approach change the procedure?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4AF2DF-6E9A-4272-B137-37EC5FEA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FD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22543A-25BE-4B86-9BBB-60F186084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defRPr>
            </a:pPr>
            <a:r>
              <a:rPr sz="1125" b="0">
                <a:solidFill>
                  <a:srgbClr val="9B774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0E91A1-EA39-4956-B037-B0D2B097A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8155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1B1D19"/>
                </a:solidFill>
                <a:latin typeface="Pretendard"/>
                <a:ea typeface="Pretendard"/>
                <a:cs typeface="Pretendard"/>
              </a:rPr>
              <a:t>Complications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60A292-5CDE-43D9-86B6-3CA6B846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1005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B7265"/>
                </a:solidFill>
                <a:latin typeface="Pretendard"/>
                <a:ea typeface="Pretendard"/>
                <a:cs typeface="Pretendard"/>
              </a:rPr>
              <a:t>What would trigger reassessment or revision?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F18482-096E-4B13-A835-A6E58678C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19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Jinmo Koo · HIGHST Urology · Perioperative Practice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C455AE-4D5C-48D7-BC52-1C84ED4B9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6448425"/>
            <a:ext cx="371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defRPr>
            </a:pPr>
            <a:r>
              <a:rPr sz="975" b="0">
                <a:solidFill>
                  <a:srgbClr val="858B7E"/>
                </a:solidFill>
                <a:latin typeface="Pretendard"/>
                <a:ea typeface="Pretendard"/>
                <a:cs typeface="Pretendard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04584302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2026-10-08T09:26:24.0560000Z</dcterms:created>
  <dcterms:modified xsi:type="dcterms:W3CDTF">2026-10-08T09:26:24.0560000Z</dcterms:modified>
</coreProperties>
</file>