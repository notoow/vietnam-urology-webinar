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a104e1229040e6" /><Relationship Type="http://schemas.openxmlformats.org/officeDocument/2006/relationships/extended-properties" Target="/docProps/app.xml" Id="R9deb8f8bbafa4242" /><Relationship Type="http://schemas.openxmlformats.org/officeDocument/2006/relationships/officeDocument" Target="/ppt/presentation.xml" Id="Rb39260ad47294a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a5435b8b5e4705"/>
  </p:sldMasterIdLst>
  <p:notesMasterIdLst>
    <p:notesMasterId xmlns:r="http://schemas.openxmlformats.org/officeDocument/2006/relationships" r:id="R3ade9db7a2c2438c"/>
  </p:notesMasterIdLst>
  <p:sldIdLst>
    <p:sldId xmlns:r="http://schemas.openxmlformats.org/officeDocument/2006/relationships" id="256" r:id="R700bbb66d2b04a61"/>
    <p:sldId xmlns:r="http://schemas.openxmlformats.org/officeDocument/2006/relationships" id="257" r:id="R8485f030ace14343"/>
    <p:sldId xmlns:r="http://schemas.openxmlformats.org/officeDocument/2006/relationships" id="258" r:id="R0e96426ee5324694"/>
    <p:sldId xmlns:r="http://schemas.openxmlformats.org/officeDocument/2006/relationships" id="259" r:id="Rfdc1fd673c994b90"/>
    <p:sldId xmlns:r="http://schemas.openxmlformats.org/officeDocument/2006/relationships" id="260" r:id="R117bea0be8fd4606"/>
    <p:sldId xmlns:r="http://schemas.openxmlformats.org/officeDocument/2006/relationships" id="261" r:id="Rbe9b7faeeb994fb4"/>
    <p:sldId xmlns:r="http://schemas.openxmlformats.org/officeDocument/2006/relationships" id="262" r:id="R64d0d0f7d87f4917"/>
    <p:sldId xmlns:r="http://schemas.openxmlformats.org/officeDocument/2006/relationships" id="263" r:id="R401e43adaff94302"/>
    <p:sldId xmlns:r="http://schemas.openxmlformats.org/officeDocument/2006/relationships" id="264" r:id="R6d09e81fb4e84010"/>
    <p:sldId xmlns:r="http://schemas.openxmlformats.org/officeDocument/2006/relationships" id="265" r:id="R26eeb09a5ec74451"/>
    <p:sldId xmlns:r="http://schemas.openxmlformats.org/officeDocument/2006/relationships" id="266" r:id="Rf6d4f086a20d40c3"/>
    <p:sldId xmlns:r="http://schemas.openxmlformats.org/officeDocument/2006/relationships" id="267" r:id="R9ac4ee13a44047da"/>
    <p:sldId xmlns:r="http://schemas.openxmlformats.org/officeDocument/2006/relationships" id="268" r:id="R6a2ae8aed1db40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0cd5874697436e" /><Relationship Type="http://schemas.openxmlformats.org/officeDocument/2006/relationships/slideMaster" Target="/ppt/slideMasters/slideMaster1.xml" Id="R54a5435b8b5e4705" /><Relationship Type="http://schemas.openxmlformats.org/officeDocument/2006/relationships/notesMaster" Target="/ppt/notesMasters/notesMaster1.xml" Id="R3ade9db7a2c2438c" /><Relationship Type="http://schemas.openxmlformats.org/officeDocument/2006/relationships/presProps" Target="/ppt/presProps.xml" Id="Rbf3b2bdb80d744d2" /><Relationship Type="http://schemas.openxmlformats.org/officeDocument/2006/relationships/tableStyles" Target="/ppt/tableStyles.xml" Id="R35d1126b17e04631" /><Relationship Type="http://schemas.openxmlformats.org/officeDocument/2006/relationships/slide" Target="/ppt/slides/slide1.xml" Id="R700bbb66d2b04a61" /><Relationship Type="http://schemas.openxmlformats.org/officeDocument/2006/relationships/slide" Target="/ppt/slides/slide2.xml" Id="R8485f030ace14343" /><Relationship Type="http://schemas.openxmlformats.org/officeDocument/2006/relationships/slide" Target="/ppt/slides/slide3.xml" Id="R0e96426ee5324694" /><Relationship Type="http://schemas.openxmlformats.org/officeDocument/2006/relationships/slide" Target="/ppt/slides/slide4.xml" Id="Rfdc1fd673c994b90" /><Relationship Type="http://schemas.openxmlformats.org/officeDocument/2006/relationships/slide" Target="/ppt/slides/slide5.xml" Id="R117bea0be8fd4606" /><Relationship Type="http://schemas.openxmlformats.org/officeDocument/2006/relationships/slide" Target="/ppt/slides/slide6.xml" Id="Rbe9b7faeeb994fb4" /><Relationship Type="http://schemas.openxmlformats.org/officeDocument/2006/relationships/slide" Target="/ppt/slides/slide7.xml" Id="R64d0d0f7d87f4917" /><Relationship Type="http://schemas.openxmlformats.org/officeDocument/2006/relationships/slide" Target="/ppt/slides/slide8.xml" Id="R401e43adaff94302" /><Relationship Type="http://schemas.openxmlformats.org/officeDocument/2006/relationships/slide" Target="/ppt/slides/slide9.xml" Id="R6d09e81fb4e84010" /><Relationship Type="http://schemas.openxmlformats.org/officeDocument/2006/relationships/slide" Target="/ppt/slides/slide10.xml" Id="R26eeb09a5ec74451" /><Relationship Type="http://schemas.openxmlformats.org/officeDocument/2006/relationships/slide" Target="/ppt/slides/slide11.xml" Id="Rf6d4f086a20d40c3" /><Relationship Type="http://schemas.openxmlformats.org/officeDocument/2006/relationships/slide" Target="/ppt/slides/slide12.xml" Id="R9ac4ee13a44047da" /><Relationship Type="http://schemas.openxmlformats.org/officeDocument/2006/relationships/slide" Target="/ppt/slides/slide13.xml" Id="R6a2ae8aed1db40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c7071fabc2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aa6e017b8e46b6" /><Relationship Type="http://schemas.openxmlformats.org/officeDocument/2006/relationships/notesMaster" Target="/ppt/notesMasters/notesMaster1.xml" Id="R7989be6629054d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2b40db8d6b4506" /><Relationship Type="http://schemas.openxmlformats.org/officeDocument/2006/relationships/notesMaster" Target="/ppt/notesMasters/notesMaster1.xml" Id="R5af47b5c3ad149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1b5bbc3bd84e37" /><Relationship Type="http://schemas.openxmlformats.org/officeDocument/2006/relationships/notesMaster" Target="/ppt/notesMasters/notesMaster1.xml" Id="Rf7c061ba24af44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7d7f502ebd4f14" /><Relationship Type="http://schemas.openxmlformats.org/officeDocument/2006/relationships/notesMaster" Target="/ppt/notesMasters/notesMaster1.xml" Id="Rae8b9e032ab345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1ab81d8005405a" /><Relationship Type="http://schemas.openxmlformats.org/officeDocument/2006/relationships/notesMaster" Target="/ppt/notesMasters/notesMaster1.xml" Id="R9fbc580be4f544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132533004a4cc7" /><Relationship Type="http://schemas.openxmlformats.org/officeDocument/2006/relationships/notesMaster" Target="/ppt/notesMasters/notesMaster1.xml" Id="R9186f8ee4bec44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8209c4fb374eee" /><Relationship Type="http://schemas.openxmlformats.org/officeDocument/2006/relationships/notesMaster" Target="/ppt/notesMasters/notesMaster1.xml" Id="R11216f7d5c3042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77deddcdde4989" /><Relationship Type="http://schemas.openxmlformats.org/officeDocument/2006/relationships/notesMaster" Target="/ppt/notesMasters/notesMaster1.xml" Id="R43edd8cf270a4d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cd7bc91d824fef" /><Relationship Type="http://schemas.openxmlformats.org/officeDocument/2006/relationships/notesMaster" Target="/ppt/notesMasters/notesMaster1.xml" Id="R5c24ce80573940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138858ebbe4ce1" /><Relationship Type="http://schemas.openxmlformats.org/officeDocument/2006/relationships/notesMaster" Target="/ppt/notesMasters/notesMaster1.xml" Id="Ra3aca089f0b84e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66be56042243d2" /><Relationship Type="http://schemas.openxmlformats.org/officeDocument/2006/relationships/notesMaster" Target="/ppt/notesMasters/notesMaster1.xml" Id="R85508fe7524d45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5e8a21e6084b48" /><Relationship Type="http://schemas.openxmlformats.org/officeDocument/2006/relationships/notesMaster" Target="/ppt/notesMasters/notesMaster1.xml" Id="R8ef9200cbe1240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6a8a4b641541f3" /><Relationship Type="http://schemas.openxmlformats.org/officeDocument/2006/relationships/notesMaster" Target="/ppt/notesMasters/notesMaster1.xml" Id="R39c62e3b2f7b42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Jinmo Koo, HIGHST Urology. Vietnam MegaDerm Webinar, 21 October 2026. Portrait supplied by HIGHST. Brand reference: https://www.highsturology.co.kr/v2/proud/doctor.php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Jinmo Koo, HIGHST Urology. Portrait supplied by HIGHST.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MegaDerm is a sheet acellular dermal matrix. HIGHST stocks hydrated and freeze-dried types. The stated thickness and sizes describe HIGHST's inventory. MegaFill is a micronized form of acellular dermal matrix. The photograph is supplied by HIGHST. Individual packages are not assigned type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https://lncbio.co.kr/theme/basic/images/L%26CBIO_catalog.pdf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Preoperative assessment at HIGHST includes IIEF and PEDT questionnaires, the listed laboratory and infection tests, flaccid and stretched penile length measurement, and penile biothesiometry. HbA1c denotes glycated hemoglobin. Sources: https://pubmed.ncbi.nlm.nih.gov/9187685/ ; https://pubmed.ncbi.nlm.nih.gov/17568761/ ; https://www.niddk.nih.gov/health-information/diagnostic-tests/a1c-test/ ; https://pubmed.ncbi.nlm.nih.gov/28874780/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Shaving and draping.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1: Pubic Incision.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2: Circumcision-line Incision.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3: Secondary Dermal Grafting.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4: Revision Surgery.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5: Contour Step-off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categories are reported in published ADM augmentation literature. They do not represent HIGHST or MegaDerm-specific outcome data. No incidence rates are extrapolated to HIGHST.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https://pubmed.ncbi.nlm.nih.gov/31420614/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Postoperative care and dressing technique.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ebefe53df47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9b0f5f65a49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99e5d30a44e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6fa403ed949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10c34d06746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d54c0491941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C51FEC-2D52-42F1-A771-0F9347CBCD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C959A4-875A-4C90-86E4-4900ADFEA8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6F469AA-5D2B-4B5B-B126-2683382953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EECC3F-FFE4-4969-9578-9023AB7928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D447AB-7AF0-441E-B8DE-E90CBAFD98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84A7D0-14C7-424F-AF95-3E51B6B807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DE2DB1-A084-46D0-9B44-FA6C0C5786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8C7435-6106-4139-8FF3-C5FB704D80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BAF152-EED9-4DF8-8924-29D2DDEDE8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1393E7-2F06-4F72-9F44-70F719B2E5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8d7cc077a14b54" /><Relationship Type="http://schemas.openxmlformats.org/officeDocument/2006/relationships/slideLayout" Target="/ppt/slideLayouts/slideLayout1.xml" Id="R134e66bca64c446f" /><Relationship Type="http://schemas.openxmlformats.org/officeDocument/2006/relationships/slideLayout" Target="/ppt/slideLayouts/slideLayout2.xml" Id="R344b847a2d27492b" /><Relationship Type="http://schemas.openxmlformats.org/officeDocument/2006/relationships/slideLayout" Target="/ppt/slideLayouts/slideLayout3.xml" Id="R1c3073a08af7472e" /><Relationship Type="http://schemas.openxmlformats.org/officeDocument/2006/relationships/slideLayout" Target="/ppt/slideLayouts/slideLayout4.xml" Id="R9791b63cc280451d" /><Relationship Type="http://schemas.openxmlformats.org/officeDocument/2006/relationships/slideLayout" Target="/ppt/slideLayouts/slideLayout5.xml" Id="Rda8192d8f83b454a" /><Relationship Type="http://schemas.openxmlformats.org/officeDocument/2006/relationships/slideLayout" Target="/ppt/slideLayouts/slideLayout6.xml" Id="Rd21b7fc384b441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4e66bca64c446f"/>
    <p:sldLayoutId xmlns:r="http://schemas.openxmlformats.org/officeDocument/2006/relationships" id="2147483650" r:id="R344b847a2d27492b"/>
    <p:sldLayoutId xmlns:r="http://schemas.openxmlformats.org/officeDocument/2006/relationships" id="2147483651" r:id="R1c3073a08af7472e"/>
    <p:sldLayoutId xmlns:r="http://schemas.openxmlformats.org/officeDocument/2006/relationships" id="2147483652" r:id="R9791b63cc280451d"/>
    <p:sldLayoutId xmlns:r="http://schemas.openxmlformats.org/officeDocument/2006/relationships" id="2147483653" r:id="Rda8192d8f83b454a"/>
    <p:sldLayoutId xmlns:r="http://schemas.openxmlformats.org/officeDocument/2006/relationships" id="2147483654" r:id="Rd21b7fc384b441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4b8f6dcaa4d71" /><Relationship Type="http://schemas.openxmlformats.org/officeDocument/2006/relationships/image" Target="/ppt/media/image.png" Id="Rf5e6d816dce148c6" /><Relationship Type="http://schemas.openxmlformats.org/officeDocument/2006/relationships/image" Target="/ppt/media/image2.png" Id="Rca20df2c3076412b" /><Relationship Type="http://schemas.openxmlformats.org/officeDocument/2006/relationships/notesSlide" Target="/ppt/notesSlides/notesSlide1.xml" Id="Rd20a5145b3cb4f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5a522ab72425a" /><Relationship Type="http://schemas.openxmlformats.org/officeDocument/2006/relationships/image" Target="/ppt/media/image3.png" Id="R0b6b0c2a416d4fc5" /><Relationship Type="http://schemas.openxmlformats.org/officeDocument/2006/relationships/image" Target="/ppt/media/image.jpeg" Id="R665828e59ccd4577" /><Relationship Type="http://schemas.openxmlformats.org/officeDocument/2006/relationships/notesSlide" Target="/ppt/notesSlides/notesSlide2.xml" Id="Rf160557f99d445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2715dcc1645ef" /><Relationship Type="http://schemas.openxmlformats.org/officeDocument/2006/relationships/image" Target="/ppt/media/image4.png" Id="R3c1b59a3ae9047be" /><Relationship Type="http://schemas.openxmlformats.org/officeDocument/2006/relationships/image" Target="/ppt/media/image5.png" Id="Ra30431c1c7314e57" /><Relationship Type="http://schemas.openxmlformats.org/officeDocument/2006/relationships/notesSlide" Target="/ppt/notesSlides/notesSlide3.xml" Id="Ra879d3c26be948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6793c4596f4dff" /><Relationship Type="http://schemas.openxmlformats.org/officeDocument/2006/relationships/image" Target="/ppt/media/image6.png" Id="R687b5681a03a489d" /><Relationship Type="http://schemas.openxmlformats.org/officeDocument/2006/relationships/notesSlide" Target="/ppt/notesSlides/notesSlide4.xml" Id="Rcdef55b006b145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3e7b7273e6492e" /><Relationship Type="http://schemas.openxmlformats.org/officeDocument/2006/relationships/image" Target="/ppt/media/image7.png" Id="R8cd34210de5f44f0" /><Relationship Type="http://schemas.openxmlformats.org/officeDocument/2006/relationships/notesSlide" Target="/ppt/notesSlides/notesSlide5.xml" Id="R480a3e33fa664e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cbb0c3e87438b" /><Relationship Type="http://schemas.openxmlformats.org/officeDocument/2006/relationships/image" Target="/ppt/media/image8.png" Id="R4d2cd90255b14d7b" /><Relationship Type="http://schemas.openxmlformats.org/officeDocument/2006/relationships/notesSlide" Target="/ppt/notesSlides/notesSlide6.xml" Id="R9ebf2657e40b4e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8bb937e0b74a96" /><Relationship Type="http://schemas.openxmlformats.org/officeDocument/2006/relationships/image" Target="/ppt/media/image9.png" Id="Rbddef009af4546dc" /><Relationship Type="http://schemas.openxmlformats.org/officeDocument/2006/relationships/notesSlide" Target="/ppt/notesSlides/notesSlide7.xml" Id="R2c30308119404d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1d248bb67a4044" /><Relationship Type="http://schemas.openxmlformats.org/officeDocument/2006/relationships/image" Target="/ppt/media/image10.png" Id="R446f63db90844f40" /><Relationship Type="http://schemas.openxmlformats.org/officeDocument/2006/relationships/notesSlide" Target="/ppt/notesSlides/notesSlide8.xml" Id="Refaf93e1925248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e801f8d014768" /><Relationship Type="http://schemas.openxmlformats.org/officeDocument/2006/relationships/image" Target="/ppt/media/image11.png" Id="Red5f744b87ff4599" /><Relationship Type="http://schemas.openxmlformats.org/officeDocument/2006/relationships/notesSlide" Target="/ppt/notesSlides/notesSlide9.xml" Id="R41a73d235c5b48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56b3b4408c4f50" /><Relationship Type="http://schemas.openxmlformats.org/officeDocument/2006/relationships/image" Target="/ppt/media/image12.png" Id="R8bcb3eb184454251" /><Relationship Type="http://schemas.openxmlformats.org/officeDocument/2006/relationships/notesSlide" Target="/ppt/notesSlides/notesSlide10.xml" Id="Rf33b8cb5b8584c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dc4adbeee4493b" /><Relationship Type="http://schemas.openxmlformats.org/officeDocument/2006/relationships/image" Target="/ppt/media/image13.png" Id="Rab1d6f4d8bcf4950" /><Relationship Type="http://schemas.openxmlformats.org/officeDocument/2006/relationships/notesSlide" Target="/ppt/notesSlides/notesSlide11.xml" Id="R3c77690e8cdc48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30b6a9bc944d0" /><Relationship Type="http://schemas.openxmlformats.org/officeDocument/2006/relationships/image" Target="/ppt/media/image14.png" Id="Rec25e949262b47d2" /><Relationship Type="http://schemas.openxmlformats.org/officeDocument/2006/relationships/notesSlide" Target="/ppt/notesSlides/notesSlide12.xml" Id="Rb44f54ed56c041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ed33e291e4e50" /><Relationship Type="http://schemas.openxmlformats.org/officeDocument/2006/relationships/image" Target="/ppt/media/image15.png" Id="Rfd47a99f60b842c8" /><Relationship Type="http://schemas.openxmlformats.org/officeDocument/2006/relationships/notesSlide" Target="/ppt/notesSlides/notesSlide13.xml" Id="Rae62841c2bb343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E6285-DB74-4D85-AAB3-2299BD4D56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6d816dce148c6"/>
          <a:stretch xmlns:a="http://schemas.openxmlformats.org/drawingml/2006/main"/>
        </p:blipFill>
        <p:spPr>
          <a:xfrm xmlns:a="http://schemas.openxmlformats.org/drawingml/2006/main">
            <a:off x="693275" y="609600"/>
            <a:ext cx="1813850" cy="51435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EA20E-0661-4E38-B679-B2720A1A71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0df2c3076412b"/>
          <a:srcRect xmlns:a="http://schemas.openxmlformats.org/drawingml/2006/main" l="33753" t="0" r="33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609600"/>
            <a:ext cx="3257550" cy="5638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996E9-D17D-4FFB-B457-0226B52C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Vietnam Urology Webinar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6E5B2-8877-4B32-8437-A441F500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702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MegaDerm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CB9C5-3EDB-4781-A76E-62772B1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708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Penile Augmentation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3C32D-B0BD-4A70-A6A3-4D6A841E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02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Clinical cases and perioperative care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28670-E53C-4075-806E-1AD652E4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702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Jinmo Koo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BB169-366A-40EF-BF47-E5EBBB54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702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HIGHST Urology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53535-B95B-4C99-A5DB-92AF1DD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21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7695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CD8A1-7EC7-45A3-9375-2372023175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b0c2a416d4fc5"/>
          <a:stretch xmlns:a="http://schemas.openxmlformats.org/drawingml/2006/main"/>
        </p:blipFill>
        <p:spPr>
          <a:xfrm xmlns:a="http://schemas.openxmlformats.org/drawingml/2006/main">
            <a:off x="693275" y="609600"/>
            <a:ext cx="18138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A897D-947E-49AF-BB03-8A8F563D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676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Jinmo Koo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807A6-0FF6-44E6-9376-4B267C22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HIGHST Urology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9FFDE-F4A5-4042-AAF4-90C0E9BF73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828e59ccd4577"/>
          <a:srcRect xmlns:a="http://schemas.openxmlformats.org/drawingml/2006/main" l="6705" t="0" r="67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609600"/>
            <a:ext cx="3257550" cy="5638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B8D38-9AED-4D49-8E74-27B20472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Jinmo Koo · HIGHST Urology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F0C54-86EF-4797-9B9C-45BB5504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00441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D08C2-78BC-45F4-8661-B4C17B67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MegaDerm &amp; MegaFill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9B43C-810D-45FA-BB17-6CBCDEA6D5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b59a3ae9047be"/>
          <a:stretch xmlns:a="http://schemas.openxmlformats.org/drawingml/2006/main"/>
        </p:blipFill>
        <p:spPr>
          <a:xfrm xmlns:a="http://schemas.openxmlformats.org/drawingml/2006/main">
            <a:off x="9926264" y="561975"/>
            <a:ext cx="1578721" cy="4476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794C5-26AE-4DDA-9F80-970C4E33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A9D0B-610B-4930-89FF-848875C6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MegaDerm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579D6-DC85-4775-9A13-F756D463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Acellular dermal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2E767-E769-418E-9A77-2458C9C5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Hydrated / Freeze-dried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A9984-DDE6-46AA-91E9-EDED142D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MegaFill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443DF-3F66-49CA-9815-F670FA8C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Micronized acellular dermal matrix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C3D50-0C31-4583-B7FD-FFF70DDA72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431c1c7314e57"/>
          <a:stretch xmlns:a="http://schemas.openxmlformats.org/drawingml/2006/main"/>
        </p:blipFill>
        <p:spPr>
          <a:xfrm xmlns:a="http://schemas.openxmlformats.org/drawingml/2006/main">
            <a:off x="6172200" y="1999129"/>
            <a:ext cx="5334000" cy="301214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8BF59-895C-4A72-AEF8-CBACC338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MegaDerm stock at HIGHST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8FA04-C1E0-4E71-89F7-481E7569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3–5 mm thick     5 × 6, 5 × 8, 5 × 10, 6 × 12 cm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1E198-8A30-4B16-9B5D-3E9D2AB6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Jinmo Koo · HIGHST Urology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4E771-B33B-4D3F-BAF8-53BFAFA1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60106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4933A-439F-4309-9962-E726D001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Preoperative Evaluation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1C977-A738-4C3C-BE0E-9B531CEC4D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b5681a03a489d"/>
          <a:stretch xmlns:a="http://schemas.openxmlformats.org/drawingml/2006/main"/>
        </p:blipFill>
        <p:spPr>
          <a:xfrm xmlns:a="http://schemas.openxmlformats.org/drawingml/2006/main">
            <a:off x="9926264" y="561975"/>
            <a:ext cx="1578721" cy="4476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92F1F-2109-4A76-9F76-D128F787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63429-0653-4BE9-8ADC-6784F1B2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0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Questionnaires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0B363-9E41-4988-B952-9A857031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IIEF / PEDT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E342E-C6A5-4CF9-AD94-9E60939A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International Index of Erectile Function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82D1F-832F-4752-82B9-5955967F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Premature Ejaculation Diagnostic Tool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010C0-9DB3-4091-A5EB-88444C10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470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Physical examination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9B819-D926-48F7-AF7F-CA4CD9D1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Penile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88CA1-C30C-4CA0-B121-EC35C327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Flaccid and stretched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45CDB-E058-4C28-B7E7-3AB4924E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Penile biothesiometry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129B2-AD76-4C38-9DC2-B5CC8BAF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Vibration perception threshold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FEDB8-E6ED-4A1B-84EB-A3F57E47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33550"/>
            <a:ext cx="9525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67053-26AC-40F4-8D9D-42056E49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516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Laboratory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6C68B-1D61-487A-9508-A35352D3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3837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Blood coagulation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34737-81E9-4A64-8539-3B55A4BA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032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Complete blood count (CBC)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98E2D-4325-47BE-A0B4-DA3A6559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6227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Prostate-specific antigen (PSA)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BEC6A-A582-4D11-905F-3F620100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2422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Blood glucose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B1D25-D07F-4EBF-B52A-417C882E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8617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HbA1c (glycated hemoglobin)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31A91-564B-4037-B34A-AA5B0480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4812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HPV testing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17C1BB-BA33-48CE-B842-2C7CB687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1007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Syphilis testing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7B247-DB52-4D09-BE5A-39C15ED3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7202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Urine testing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50F538-467B-4B77-8F88-2083C873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3397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Liver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7A188-D236-4B57-AD66-96EC054E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9592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Inflammatory markers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5E118D-C3D0-427B-905D-F7697DA8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Jinmo Koo · HIGHST Urology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966C5F-CCD5-41B5-866C-B12FDEF6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68929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41C19-69C1-4954-9DB7-FBB7F992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Shaving and Draping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A46AF-4215-4D1D-92BA-F816745D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Surgical Preparation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0224F-21D1-4EB7-9E48-F809FE7AE8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34210de5f44f0"/>
          <a:stretch xmlns:a="http://schemas.openxmlformats.org/drawingml/2006/main"/>
        </p:blipFill>
        <p:spPr>
          <a:xfrm xmlns:a="http://schemas.openxmlformats.org/drawingml/2006/main">
            <a:off x="9926264" y="561975"/>
            <a:ext cx="1578721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0932F-3F21-4316-BAF2-D8B8667E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52550"/>
            <a:ext cx="85344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4253C-4D51-4B0F-9F23-A98FBD51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Jinmo Koo · HIGHST Urology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FA206-396D-45B6-8982-F849FACD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49787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C6091-5A62-419B-BC6C-1E3D5DB8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Case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13F7F-49B2-4112-BCD3-C657F16C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Pubic Incision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FB7DF-5749-437A-BA0A-94FF129C1F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cd90255b14d7b"/>
          <a:stretch xmlns:a="http://schemas.openxmlformats.org/drawingml/2006/main"/>
        </p:blipFill>
        <p:spPr>
          <a:xfrm xmlns:a="http://schemas.openxmlformats.org/drawingml/2006/main">
            <a:off x="9926264" y="561975"/>
            <a:ext cx="1578721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D276B-7C76-487D-916C-E9D0ACE9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52550"/>
            <a:ext cx="85344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D32D8-0996-4906-877A-BB0483E9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Jinmo Koo · HIGHST Urology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FFF2A-80CC-484E-9B68-C149B9C2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73586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AC00B-8697-4035-ACF6-03E3F40E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Case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B88A9-1E5A-4932-910A-52054479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Circumcision-line Incision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F6C42-659F-40E1-AD1D-653E8DC772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ef009af4546dc"/>
          <a:stretch xmlns:a="http://schemas.openxmlformats.org/drawingml/2006/main"/>
        </p:blipFill>
        <p:spPr>
          <a:xfrm xmlns:a="http://schemas.openxmlformats.org/drawingml/2006/main">
            <a:off x="9926264" y="561975"/>
            <a:ext cx="1578721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F2F00-485F-415F-91D1-BEBC05F0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52550"/>
            <a:ext cx="85344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6101D-F136-4893-82FE-8EE034B6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Jinmo Koo · HIGHST Urology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F182F-A424-4D52-9871-0270AAE2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624207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CE75C-493B-426C-A9CF-0FD7AFCB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Case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6D700-AD77-43C6-A94C-5A8A36DF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Secondary Dermal Grafting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342EF-F1B4-4902-B829-1C06E1B436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f63db90844f40"/>
          <a:stretch xmlns:a="http://schemas.openxmlformats.org/drawingml/2006/main"/>
        </p:blipFill>
        <p:spPr>
          <a:xfrm xmlns:a="http://schemas.openxmlformats.org/drawingml/2006/main">
            <a:off x="9926264" y="561975"/>
            <a:ext cx="1578721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4ED7E-770E-4BAF-8807-CC005BF8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52550"/>
            <a:ext cx="85344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55DD0-F621-4847-B8AD-F907DAC9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Jinmo Koo · HIGHST Urology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332E7-9715-4918-A002-33659D30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450717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A294D-3154-403B-8C03-146B3A3F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Case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1234E-8A99-44CC-B65D-E7D3D899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Revision Surgery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E1BD0-8C7C-4B60-97F9-B9D29E03C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f744b87ff4599"/>
          <a:stretch xmlns:a="http://schemas.openxmlformats.org/drawingml/2006/main"/>
        </p:blipFill>
        <p:spPr>
          <a:xfrm xmlns:a="http://schemas.openxmlformats.org/drawingml/2006/main">
            <a:off x="9926264" y="561975"/>
            <a:ext cx="1578721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991C5-D9A2-4EAA-BB3B-6CCCC75A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52550"/>
            <a:ext cx="85344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6FB9D-1C55-4B04-A4C7-D77FB119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Jinmo Koo · HIGHST Urology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6911C-3039-4644-8CDF-D79F5A8E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494955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93B7B-1E87-4A42-BD26-0F755E8A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Case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80065-F654-4649-9AE0-744E3305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Contour Step-off Correction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AD060-1329-404C-A339-EDA418E7B2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b3eb184454251"/>
          <a:stretch xmlns:a="http://schemas.openxmlformats.org/drawingml/2006/main"/>
        </p:blipFill>
        <p:spPr>
          <a:xfrm xmlns:a="http://schemas.openxmlformats.org/drawingml/2006/main">
            <a:off x="9926264" y="561975"/>
            <a:ext cx="1578721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79402-4DF8-429C-8C4E-9623C2C3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52550"/>
            <a:ext cx="85344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234F4-80AE-4ECA-A006-01B98923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Jinmo Koo · HIGHST Urology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284B3-84AB-4697-BEC6-2228F113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990915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36424-0114-43C5-9816-5195BC6A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Potential Complications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9AFC1-3CE6-44FD-BF49-79AB823124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d6f4d8bcf4950"/>
          <a:stretch xmlns:a="http://schemas.openxmlformats.org/drawingml/2006/main"/>
        </p:blipFill>
        <p:spPr>
          <a:xfrm xmlns:a="http://schemas.openxmlformats.org/drawingml/2006/main">
            <a:off x="9926264" y="561975"/>
            <a:ext cx="1578721" cy="4476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DFE46-D7D1-4E1D-8C6B-4F9EDDA4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9AB50-C10C-4B47-840F-37BC2467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Bleeding and swelling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91968-E99E-4687-8B43-CCFFE1CE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Hematoma, foreskin edema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BF8BA-3347-4E96-921E-C4A2379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177CA-47C4-4BBC-B745-A5C21D6B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Wound complications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91212-2446-4D17-9104-070E1CAE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Delayed healing, infection, skin necrosis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F1E71-685F-48CE-B09C-FEC8A47F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D6C67-0008-4652-B0E2-D745E0C7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Contour and discomfort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0E9EF-E904-4D4B-AC61-6D688AB9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Graft contour irregularity, discomfort during erection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45C12-A07F-4063-A4C3-01AB1016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Reported in ADM augmentation literature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E5B6F-031B-4F34-9429-64E34AF5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Jinmo Koo · HIGHST Urology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2481D-EF38-4B64-9D47-8B318363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721576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AB073-08D6-45EB-9F04-9A6963A4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Dressing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CA397-D951-4B4F-BFCC-EBFAA051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Postoperative Care &amp; Dressing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950A9-8187-43AA-A91F-5E19F24FF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5e949262b47d2"/>
          <a:stretch xmlns:a="http://schemas.openxmlformats.org/drawingml/2006/main"/>
        </p:blipFill>
        <p:spPr>
          <a:xfrm xmlns:a="http://schemas.openxmlformats.org/drawingml/2006/main">
            <a:off x="9926264" y="561975"/>
            <a:ext cx="1578721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68474-0FEE-4782-A550-6BCC779A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52550"/>
            <a:ext cx="85344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7045E-0B92-4D8E-AE15-7B255766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Jinmo Koo · HIGHST Urology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EB611-C551-4721-8170-CCB7C19D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317670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140A8-D453-4F5A-BD3F-517BB0F3DD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7a99f60b842c8"/>
          <a:stretch xmlns:a="http://schemas.openxmlformats.org/drawingml/2006/main"/>
        </p:blipFill>
        <p:spPr>
          <a:xfrm xmlns:a="http://schemas.openxmlformats.org/drawingml/2006/main">
            <a:off x="693275" y="609600"/>
            <a:ext cx="18138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FCF10-5995-463B-82AC-3F5A139E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Questions &amp;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3EF21-7E2E-4E33-8B53-DC3367B1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C1924-E234-4610-8F63-FA373685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Jinmo Koo · HIGHST Urology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B868A-A20B-4A42-9F98-08808068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81506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2026-10-12T07:54:22.3340000Z</dcterms:created>
  <dcterms:modified xsi:type="dcterms:W3CDTF">2026-10-12T07:54:22.3340000Z</dcterms:modified>
</coreProperties>
</file>