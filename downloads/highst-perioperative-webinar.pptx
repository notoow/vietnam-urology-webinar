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72b8a5199504ef0" /><Relationship Type="http://schemas.openxmlformats.org/officeDocument/2006/relationships/extended-properties" Target="/docProps/app.xml" Id="R2b723b487cc14032" /><Relationship Type="http://schemas.openxmlformats.org/officeDocument/2006/relationships/officeDocument" Target="/ppt/presentation.xml" Id="R9bf75e1661af47f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c4efa1c288b4ef1"/>
  </p:sldMasterIdLst>
  <p:notesMasterIdLst>
    <p:notesMasterId xmlns:r="http://schemas.openxmlformats.org/officeDocument/2006/relationships" r:id="R5b3e87f3e91845dc"/>
  </p:notesMasterIdLst>
  <p:sldIdLst>
    <p:sldId xmlns:r="http://schemas.openxmlformats.org/officeDocument/2006/relationships" id="256" r:id="R4c25997d9bc44673"/>
    <p:sldId xmlns:r="http://schemas.openxmlformats.org/officeDocument/2006/relationships" id="257" r:id="Ra34716ee66604145"/>
    <p:sldId xmlns:r="http://schemas.openxmlformats.org/officeDocument/2006/relationships" id="258" r:id="R1c053f9aed004e46"/>
    <p:sldId xmlns:r="http://schemas.openxmlformats.org/officeDocument/2006/relationships" id="259" r:id="R5d6be922e3394221"/>
    <p:sldId xmlns:r="http://schemas.openxmlformats.org/officeDocument/2006/relationships" id="260" r:id="Re071ba049aea43f8"/>
    <p:sldId xmlns:r="http://schemas.openxmlformats.org/officeDocument/2006/relationships" id="261" r:id="Raff95f084a754c6b"/>
    <p:sldId xmlns:r="http://schemas.openxmlformats.org/officeDocument/2006/relationships" id="262" r:id="R6e6cfbd7a0c146b1"/>
    <p:sldId xmlns:r="http://schemas.openxmlformats.org/officeDocument/2006/relationships" id="263" r:id="Rb287d44de0134827"/>
    <p:sldId xmlns:r="http://schemas.openxmlformats.org/officeDocument/2006/relationships" id="264" r:id="R4372b6e55b2e4f11"/>
    <p:sldId xmlns:r="http://schemas.openxmlformats.org/officeDocument/2006/relationships" id="265" r:id="R1070a5fd12b24763"/>
    <p:sldId xmlns:r="http://schemas.openxmlformats.org/officeDocument/2006/relationships" id="266" r:id="Rba9933b85e6141a0"/>
    <p:sldId xmlns:r="http://schemas.openxmlformats.org/officeDocument/2006/relationships" id="267" r:id="R7f7f84753cc4478c"/>
    <p:sldId xmlns:r="http://schemas.openxmlformats.org/officeDocument/2006/relationships" id="268" r:id="R938443632cb94a4c"/>
    <p:sldId xmlns:r="http://schemas.openxmlformats.org/officeDocument/2006/relationships" id="269" r:id="Rfc2ff55228e94e0f"/>
    <p:sldId xmlns:r="http://schemas.openxmlformats.org/officeDocument/2006/relationships" id="270" r:id="R6be3f0cec11a4ec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86763388544e6e" /><Relationship Type="http://schemas.openxmlformats.org/officeDocument/2006/relationships/slideMaster" Target="/ppt/slideMasters/slideMaster1.xml" Id="Rcc4efa1c288b4ef1" /><Relationship Type="http://schemas.openxmlformats.org/officeDocument/2006/relationships/notesMaster" Target="/ppt/notesMasters/notesMaster1.xml" Id="R5b3e87f3e91845dc" /><Relationship Type="http://schemas.openxmlformats.org/officeDocument/2006/relationships/presProps" Target="/ppt/presProps.xml" Id="R523c7817a26a492f" /><Relationship Type="http://schemas.openxmlformats.org/officeDocument/2006/relationships/tableStyles" Target="/ppt/tableStyles.xml" Id="R096fdc62f6054c0b" /><Relationship Type="http://schemas.openxmlformats.org/officeDocument/2006/relationships/slide" Target="/ppt/slides/slide1.xml" Id="R4c25997d9bc44673" /><Relationship Type="http://schemas.openxmlformats.org/officeDocument/2006/relationships/slide" Target="/ppt/slides/slide2.xml" Id="Ra34716ee66604145" /><Relationship Type="http://schemas.openxmlformats.org/officeDocument/2006/relationships/slide" Target="/ppt/slides/slide3.xml" Id="R1c053f9aed004e46" /><Relationship Type="http://schemas.openxmlformats.org/officeDocument/2006/relationships/slide" Target="/ppt/slides/slide4.xml" Id="R5d6be922e3394221" /><Relationship Type="http://schemas.openxmlformats.org/officeDocument/2006/relationships/slide" Target="/ppt/slides/slide5.xml" Id="Re071ba049aea43f8" /><Relationship Type="http://schemas.openxmlformats.org/officeDocument/2006/relationships/slide" Target="/ppt/slides/slide6.xml" Id="Raff95f084a754c6b" /><Relationship Type="http://schemas.openxmlformats.org/officeDocument/2006/relationships/slide" Target="/ppt/slides/slide7.xml" Id="R6e6cfbd7a0c146b1" /><Relationship Type="http://schemas.openxmlformats.org/officeDocument/2006/relationships/slide" Target="/ppt/slides/slide8.xml" Id="Rb287d44de0134827" /><Relationship Type="http://schemas.openxmlformats.org/officeDocument/2006/relationships/slide" Target="/ppt/slides/slide9.xml" Id="R4372b6e55b2e4f11" /><Relationship Type="http://schemas.openxmlformats.org/officeDocument/2006/relationships/slide" Target="/ppt/slides/slide10.xml" Id="R1070a5fd12b24763" /><Relationship Type="http://schemas.openxmlformats.org/officeDocument/2006/relationships/slide" Target="/ppt/slides/slide11.xml" Id="Rba9933b85e6141a0" /><Relationship Type="http://schemas.openxmlformats.org/officeDocument/2006/relationships/slide" Target="/ppt/slides/slide12.xml" Id="R7f7f84753cc4478c" /><Relationship Type="http://schemas.openxmlformats.org/officeDocument/2006/relationships/slide" Target="/ppt/slides/slide13.xml" Id="R938443632cb94a4c" /><Relationship Type="http://schemas.openxmlformats.org/officeDocument/2006/relationships/slide" Target="/ppt/slides/slide14.xml" Id="Rfc2ff55228e94e0f" /><Relationship Type="http://schemas.openxmlformats.org/officeDocument/2006/relationships/slide" Target="/ppt/slides/slide15.xml" Id="R6be3f0cec11a4e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9976ca34b8e4e8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419d74a2db4cb0" /><Relationship Type="http://schemas.openxmlformats.org/officeDocument/2006/relationships/notesMaster" Target="/ppt/notesMasters/notesMaster1.xml" Id="Rbc73f88712c2477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ea13885a3a4321" /><Relationship Type="http://schemas.openxmlformats.org/officeDocument/2006/relationships/notesMaster" Target="/ppt/notesMasters/notesMaster1.xml" Id="Rbf14f83c7f544fe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fabbafe8d84ce4" /><Relationship Type="http://schemas.openxmlformats.org/officeDocument/2006/relationships/notesMaster" Target="/ppt/notesMasters/notesMaster1.xml" Id="Rf283a90507d8497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8163ae54f14b87" /><Relationship Type="http://schemas.openxmlformats.org/officeDocument/2006/relationships/notesMaster" Target="/ppt/notesMasters/notesMaster1.xml" Id="R3f0bf9e42ba8462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025575a01c4a0b" /><Relationship Type="http://schemas.openxmlformats.org/officeDocument/2006/relationships/notesMaster" Target="/ppt/notesMasters/notesMaster1.xml" Id="R1df48febb0124f8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4366dc7f2784668" /><Relationship Type="http://schemas.openxmlformats.org/officeDocument/2006/relationships/notesMaster" Target="/ppt/notesMasters/notesMaster1.xml" Id="R898edad4dfa24be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cdba6c243df4b64" /><Relationship Type="http://schemas.openxmlformats.org/officeDocument/2006/relationships/notesMaster" Target="/ppt/notesMasters/notesMaster1.xml" Id="Rcc53e1425d3b4ed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27f13317aa34956" /><Relationship Type="http://schemas.openxmlformats.org/officeDocument/2006/relationships/notesMaster" Target="/ppt/notesMasters/notesMaster1.xml" Id="R41a0cf906c6a484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b85e0f6db94ab9" /><Relationship Type="http://schemas.openxmlformats.org/officeDocument/2006/relationships/notesMaster" Target="/ppt/notesMasters/notesMaster1.xml" Id="R69b560731b7d42a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73be2664b414b40" /><Relationship Type="http://schemas.openxmlformats.org/officeDocument/2006/relationships/notesMaster" Target="/ppt/notesMasters/notesMaster1.xml" Id="R298ae830935945f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f604d4f3dfb46d2" /><Relationship Type="http://schemas.openxmlformats.org/officeDocument/2006/relationships/notesMaster" Target="/ppt/notesMasters/notesMaster1.xml" Id="Rdc215fb630864b2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b856b8766e14d79" /><Relationship Type="http://schemas.openxmlformats.org/officeDocument/2006/relationships/notesMaster" Target="/ppt/notesMasters/notesMaster1.xml" Id="Ra5ef89a90f3642f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f460b06198742f8" /><Relationship Type="http://schemas.openxmlformats.org/officeDocument/2006/relationships/notesMaster" Target="/ppt/notesMasters/notesMaster1.xml" Id="Rbfd196087ad64e9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92196e9958940c5" /><Relationship Type="http://schemas.openxmlformats.org/officeDocument/2006/relationships/notesMaster" Target="/ppt/notesMasters/notesMaster1.xml" Id="Rdee902d243dd442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0dd9db7c6544450" /><Relationship Type="http://schemas.openxmlformats.org/officeDocument/2006/relationships/notesMaster" Target="/ppt/notesMasters/notesMaster1.xml" Id="Re3454c8fbd894e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Jinmo Koo, HIGHST Urology. Vietnam MegaDerm Webinar, 21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Jinmo Koo, HIGHST Urology.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MegaDerm is a sheet acellular dermal matrix. HIGHST stocks hydrated and freeze-dried types. The stated thickness and sizes describe HIGHST's inventory. MegaFill is a micronized form of acellular dermal matrix. The photograph is supplied by HIGHST. Individual packages are not assigned type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https://lncbio.co.kr/theme/basic/images/L%26CBIO_catalog.pdf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preoperative evaluation includes the International Index of Erectile Function (IIEF) and the Premature Ejaculation Diagnostic Tool (PEDT).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https://pubmed.ncbi.nlm.nih.gov/9187685/</a:t>
            </a:r>
          </a:p>
          <a:p xmlns:a="http://schemas.openxmlformats.org/drawingml/2006/main">
            <a:r>
              <a:t>https://pubmed.ncbi.nlm.nih.gov/17568761/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Preoperative testing includes blood coagulation tests, complete blood count (CBC), prostate-specific antigen (PSA), blood glucose, glycated hemoglobin (HbA1c), HPV and syphilis testing, urine testing, liver function and inflammatory markers.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https://www.niddk.nih.gov/health-information/diagnostic-tests/a1c-test/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Physical examination includes penile length measurement in the flaccid and stretched states. Penile biothesiometry assesses vibration perception thresholds and penile sensitivity.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https://pubmed.ncbi.nlm.nih.gov/28874780/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Shaving and draping.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Case 1: Pubic Incision.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Case 2: Circumcision-line Incision.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Case 3: Secondary Dermal Grafting.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Case 4: Revision Surgery.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Case 5: Contour Step-off Correction.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categories are reported in published ADM augmentation literature. They do not represent HIGHST or MegaDerm-specific outcome data. No incidence rates are extrapolated to HIGHST.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https://pubmed.ncbi.nlm.nih.gov/31420614/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Postoperative care and dressing technique.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Thank you.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cdc2cc49924c6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c57e07bcb6437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a5aa5a1cec439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e76323f0a24a3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b846785e654b8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e1a63f6d8140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3A30845-1A30-4200-82FE-AAF854C645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1CF4F87-CDD6-45FC-A767-BA911FA802A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EA20947-52AE-4F37-9C7A-C837300B0E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CD33F13-8A6C-43A5-844B-B0637746FE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748D49E-2AC4-484A-B01F-73AC2A95F9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4F7C5FD-DA8D-4180-B99C-400D5FDF49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8978989-A2E0-4EE9-92E1-A678E47ADA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2F1F952-AC79-44F5-B140-E319853E123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0245DB9-B556-4BD0-98E1-229C04B3BC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D0A0566-3B7E-4505-B0AA-FE1170F845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82c235595614c2e" /><Relationship Type="http://schemas.openxmlformats.org/officeDocument/2006/relationships/slideLayout" Target="/ppt/slideLayouts/slideLayout1.xml" Id="R5a2cd24448d54d55" /><Relationship Type="http://schemas.openxmlformats.org/officeDocument/2006/relationships/slideLayout" Target="/ppt/slideLayouts/slideLayout2.xml" Id="Rc7da571e9a8f45e1" /><Relationship Type="http://schemas.openxmlformats.org/officeDocument/2006/relationships/slideLayout" Target="/ppt/slideLayouts/slideLayout3.xml" Id="R3c870f87f4af4ee0" /><Relationship Type="http://schemas.openxmlformats.org/officeDocument/2006/relationships/slideLayout" Target="/ppt/slideLayouts/slideLayout4.xml" Id="Raaa64aea0ac1474c" /><Relationship Type="http://schemas.openxmlformats.org/officeDocument/2006/relationships/slideLayout" Target="/ppt/slideLayouts/slideLayout5.xml" Id="Reffff0882e434602" /><Relationship Type="http://schemas.openxmlformats.org/officeDocument/2006/relationships/slideLayout" Target="/ppt/slideLayouts/slideLayout6.xml" Id="R4f2d406ee2094f4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2cd24448d54d55"/>
    <p:sldLayoutId xmlns:r="http://schemas.openxmlformats.org/officeDocument/2006/relationships" id="2147483650" r:id="Rc7da571e9a8f45e1"/>
    <p:sldLayoutId xmlns:r="http://schemas.openxmlformats.org/officeDocument/2006/relationships" id="2147483651" r:id="R3c870f87f4af4ee0"/>
    <p:sldLayoutId xmlns:r="http://schemas.openxmlformats.org/officeDocument/2006/relationships" id="2147483652" r:id="Raaa64aea0ac1474c"/>
    <p:sldLayoutId xmlns:r="http://schemas.openxmlformats.org/officeDocument/2006/relationships" id="2147483653" r:id="Reffff0882e434602"/>
    <p:sldLayoutId xmlns:r="http://schemas.openxmlformats.org/officeDocument/2006/relationships" id="2147483654" r:id="R4f2d406ee2094f4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191dcf88b948d1" /><Relationship Type="http://schemas.openxmlformats.org/officeDocument/2006/relationships/image" Target="/ppt/media/image.png" Id="R2896c692362149b9" /><Relationship Type="http://schemas.openxmlformats.org/officeDocument/2006/relationships/image" Target="/ppt/media/image2.png" Id="R26958d57f78d4f77" /><Relationship Type="http://schemas.openxmlformats.org/officeDocument/2006/relationships/notesSlide" Target="/ppt/notesSlides/notesSlide1.xml" Id="R3594ee943f414f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938a7bd79a48b7" /><Relationship Type="http://schemas.openxmlformats.org/officeDocument/2006/relationships/image" Target="/ppt/media/image3.png" Id="R52df518727ce49a0" /><Relationship Type="http://schemas.openxmlformats.org/officeDocument/2006/relationships/notesSlide" Target="/ppt/notesSlides/notesSlide2.xml" Id="Rbb4f0829962542c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b2ab8c764d431d" /><Relationship Type="http://schemas.openxmlformats.org/officeDocument/2006/relationships/image" Target="/ppt/media/image4.png" Id="R385b817c7b724199" /><Relationship Type="http://schemas.openxmlformats.org/officeDocument/2006/relationships/notesSlide" Target="/ppt/notesSlides/notesSlide3.xml" Id="R867419f4ef9443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328ce2f2814b06" /><Relationship Type="http://schemas.openxmlformats.org/officeDocument/2006/relationships/notesSlide" Target="/ppt/notesSlides/notesSlide4.xml" Id="Rd1cc22c8ae774f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ad61880bdc4f35" /><Relationship Type="http://schemas.openxmlformats.org/officeDocument/2006/relationships/notesSlide" Target="/ppt/notesSlides/notesSlide5.xml" Id="R6b73df0c0a304b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11ac9c6d17429a" /><Relationship Type="http://schemas.openxmlformats.org/officeDocument/2006/relationships/notesSlide" Target="/ppt/notesSlides/notesSlide6.xml" Id="R7550ac44068c409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f7c6daf067445e" /><Relationship Type="http://schemas.openxmlformats.org/officeDocument/2006/relationships/notesSlide" Target="/ppt/notesSlides/notesSlide7.xml" Id="R45e8a6acc897496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5410b0167f4540" /><Relationship Type="http://schemas.openxmlformats.org/officeDocument/2006/relationships/notesSlide" Target="/ppt/notesSlides/notesSlide8.xml" Id="Re946e1fc03774e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dcf545b54b4999" /><Relationship Type="http://schemas.openxmlformats.org/officeDocument/2006/relationships/notesSlide" Target="/ppt/notesSlides/notesSlide9.xml" Id="R3acb6d2cc5b048c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146f3c7522452c" /><Relationship Type="http://schemas.openxmlformats.org/officeDocument/2006/relationships/notesSlide" Target="/ppt/notesSlides/notesSlide10.xml" Id="Rb1eab15ce48b4f2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50c47a03c543a1" /><Relationship Type="http://schemas.openxmlformats.org/officeDocument/2006/relationships/notesSlide" Target="/ppt/notesSlides/notesSlide11.xml" Id="R883abfd8eec5401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7d76da9c0b4e85" /><Relationship Type="http://schemas.openxmlformats.org/officeDocument/2006/relationships/notesSlide" Target="/ppt/notesSlides/notesSlide12.xml" Id="Rd3e5b38f9bfc4ae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2e7e2851494970" /><Relationship Type="http://schemas.openxmlformats.org/officeDocument/2006/relationships/notesSlide" Target="/ppt/notesSlides/notesSlide13.xml" Id="R4514617f2dac4cb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f1b4c1ad9b4d57" /><Relationship Type="http://schemas.openxmlformats.org/officeDocument/2006/relationships/notesSlide" Target="/ppt/notesSlides/notesSlide14.xml" Id="R163b23b410ff4ce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8139d30acd46f2" /><Relationship Type="http://schemas.openxmlformats.org/officeDocument/2006/relationships/notesSlide" Target="/ppt/notesSlides/notesSlide15.xml" Id="R29e1baeb8e3a41a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FC47BC-909A-4676-B5DA-8C08CA5E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0"/>
            <a:ext cx="4972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3EE"/>
          </a:solidFill>
          <a:ln xmlns:a="http://schemas.openxmlformats.org/drawingml/2006/main" w="0">
            <a:noFill/>
          </a:ln>
        </p:spPr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FCB69E-8759-404E-8F7D-B5E0778842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96c692362149b9"/>
          <a:stretch xmlns:a="http://schemas.openxmlformats.org/drawingml/2006/main"/>
        </p:blipFill>
        <p:spPr>
          <a:xfrm xmlns:a="http://schemas.openxmlformats.org/drawingml/2006/main">
            <a:off x="7695746" y="476250"/>
            <a:ext cx="3991884" cy="56769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BEBB88-520D-4540-9CEB-6B52F1FF5F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958d57f78d4f77"/>
          <a:stretch xmlns:a="http://schemas.openxmlformats.org/drawingml/2006/main"/>
        </p:blipFill>
        <p:spPr>
          <a:xfrm xmlns:a="http://schemas.openxmlformats.org/drawingml/2006/main">
            <a:off x="685800" y="602579"/>
            <a:ext cx="2333625" cy="661742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E53793-EECC-42B0-8BC8-37103292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VIETNAM UROLOGY WEBINAR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56F724-0DFB-46ED-8484-C27E0813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6191250" cy="2257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MegaDerm</a:t>
            </a:r>
          </a:p>
          <a:p xmlns:a="http://schemas.openxmlformats.org/drawingml/2006/main">
            <a:pPr algn="l">
              <a:def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Penile</a:t>
            </a:r>
          </a:p>
          <a:p xmlns:a="http://schemas.openxmlformats.org/drawingml/2006/main">
            <a:pPr algn="l">
              <a:def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Augmentation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1705A2-81B4-4C73-A99F-8B746C38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5143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Clinical Cases and Perioperative Care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1C4B22-FC8A-4DB1-B6A8-A3A9E3C4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5372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46B4D2-64EE-43AF-9A2C-20F7EC9F6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4832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Jinmo Koo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E8D573-79AD-4FAA-8BA9-3F68B2FBB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5715000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21 October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CB7398-DC6B-4C10-90EC-75B68A1C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899F88-F611-4927-8576-DA52F50E6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41544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6C08D-6C82-403E-ACC9-6BC583AE4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SPEAKER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099948-80AF-4755-BC9D-66D15834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Jinmo Koo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EFE01A-78CA-410F-8C5F-0481E147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HIGHST Urology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59E8F4-6E42-43BC-8118-97B6128680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f518727ce49a0"/>
          <a:stretch xmlns:a="http://schemas.openxmlformats.org/drawingml/2006/main"/>
        </p:blipFill>
        <p:spPr>
          <a:xfrm xmlns:a="http://schemas.openxmlformats.org/drawingml/2006/main">
            <a:off x="685800" y="4812204"/>
            <a:ext cx="2571750" cy="72926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7CD8BF-47F1-438E-9CF4-618BDE95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43C27F-B039-4F74-9515-AAC8F080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043264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E66460-D960-4FD6-AF1A-05FD27E6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MATERIALS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D07E6-0D77-49D4-8655-A5D66DC7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MegaDerm &amp; MegaFill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120603-2723-4CCF-B04D-A738B462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497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F922A0-9D52-4444-AE5B-62F1FF85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497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4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MegaDerm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F66F0B-7F03-4279-97E6-FD6FD5BC5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14675"/>
            <a:ext cx="49720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Acellular dermal matrix</a:t>
            </a:r>
          </a:p>
          <a:p xmlns:a="http://schemas.openxmlformats.org/drawingml/2006/main">
            <a:pPr algn="l"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Hydrated / Freeze-dried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31F9FB-CB2C-4346-87ED-A2E80064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4972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8BED8B-31C9-4E32-9DEF-BD91F7171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497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4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MegaFill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2B5856-E657-46D5-9AF8-8700A996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49720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Micronized acellular dermal matrix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91A902-89BE-4757-900D-DFA32AC03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33625"/>
            <a:ext cx="5257800" cy="3209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3EE"/>
          </a:solidFill>
          <a:ln xmlns:a="http://schemas.openxmlformats.org/drawingml/2006/main" w="0">
            <a:noFill/>
          </a:ln>
        </p:spPr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B7B565-9841-4E4F-BCFD-57FB11A3C3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5b817c7b724199"/>
          <a:stretch xmlns:a="http://schemas.openxmlformats.org/drawingml/2006/main"/>
        </p:blipFill>
        <p:spPr>
          <a:xfrm xmlns:a="http://schemas.openxmlformats.org/drawingml/2006/main">
            <a:off x="6343650" y="2507820"/>
            <a:ext cx="5067300" cy="2861534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097F5D-3031-4628-A6FA-45208EDE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MegaDerm stock at HIGHST: 3–5 mm / 5 × 6, 5 × 8, 5 × 10, 6 × 12 cm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B51878-C20E-4EFA-A0A7-FDAA7EA6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461DB2-7223-4414-8994-D8CFC6F0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372002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088DFC-491C-4C1B-B12F-9897868B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1E144D-E2E1-4FA7-9C94-DF7F3DB91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Patient Questionnaires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922CD8-6E45-4E8B-A6C6-65A49CE65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B2692C-CF11-4478-AF4B-07E94610A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5105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IIEF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0A9FC0-BF32-46B2-8E32-C8A284B1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5105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International Index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of Erectile Function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85101-9405-4936-94C9-4B5E90C0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D63C35-20E5-40F0-A997-AD988FE80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105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PEDT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EDFAC1-6D15-4661-8DEF-C181E89B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81400"/>
            <a:ext cx="5105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Premature Ejaculation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Diagnostic Tool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3DB956-B5BE-4DA2-9DA0-EB4C25C1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0CA4F0-900B-463A-AD44-E21062968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128246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91DBC3-70DD-45FB-BCE9-AC98EB1A4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B622D6-7B65-4B56-846E-BC495CB3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Laboratory &amp; Infection Screening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570920-3805-4AD8-A614-5E1B6C10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ECA283-7AFF-40EB-9ECF-2FE06D45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5105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Blood tests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8954D0-F98C-4EAC-826C-272FC162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5105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Blood coagulation tests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Complete blood count (CBC)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Prostate-specific antigen (PSA)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Blood glucose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HbA1c (glycated hemoglobin)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922D43-6C29-4B84-A89F-F1ADCDCB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CF020E-7E4D-4792-AEC8-DC9CF0FE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105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Screening and other tests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4C9B48-39E8-4779-9661-1410F751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81400"/>
            <a:ext cx="5105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HPV testing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Syphilis testing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Urine testing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Liver function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Inflammatory markers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5FD6B3-4CB6-4B2C-8988-3924317E7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0DE3B4-DB18-4FAF-BB8A-5BB88947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63946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0108A2-7549-4524-AFF7-A9A6E7B6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8EB9C9-C471-4F33-A1DC-AE9DB152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Physical Examination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C2AFC0-E7E2-43CF-82C5-BC06D00B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C190D2-5FCE-4557-A51C-11399A2D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5105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Penile length measurement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8D46A-C831-4456-AB42-B7A411BC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5105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Flaccid length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Stretched length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98EC5C-4B3B-4F23-9E67-F1CD2BFA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934AD7-ACBD-4487-8D6E-2F46CCE2D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105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Penile biothesiometry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35813E-7B2E-4BB9-84C7-A293A04D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81400"/>
            <a:ext cx="5105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Vibration perception threshold</a:t>
            </a:r>
          </a:p>
          <a:p xmlns:a="http://schemas.openxmlformats.org/drawingml/2006/main">
            <a:pPr algn="l">
              <a:def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Penile sensitivity assessment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17BD7F-11FB-46DF-ABBB-7E2DA8B2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9A88A0-EF09-431F-9748-68D2EA2F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85656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37E0D5-B8BB-4876-8F42-CE56396E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3350"/>
            <a:ext cx="10363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25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825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PREPARATION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B2C8B8-8AB4-487D-94D8-B44A3FE79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"/>
            <a:ext cx="10363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2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Surgical Preparation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D1910B-8D13-496C-9DF2-6C29A6285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147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Shaving and Draping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27F45-32AF-4CE2-AD4B-6124173DB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23900"/>
            <a:ext cx="10363200" cy="582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3E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C14C0D-0191-4F5F-B578-208910C2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66750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33F3E4-8241-4FB4-A2BF-B543F0828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67500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359548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E5453A-74CD-47C7-A5D9-A570EB39C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3350"/>
            <a:ext cx="10363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25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825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CLINICAL CASES / CASE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629D3C-F077-4085-9AF6-CCED921E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"/>
            <a:ext cx="10363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2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Pubic Incision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835A2E-7974-4597-8652-AB10E2FD0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23900"/>
            <a:ext cx="10363200" cy="582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3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36C5BE-7D2A-4FD6-9F59-054D2A03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66750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FFFD73-AB2E-4DA2-944E-9CE28C12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67500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743615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D1FF4-16E7-47E8-A9F5-3A3A7A711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3350"/>
            <a:ext cx="10363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25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825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CLINICAL CASES / CASE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16C21E-C437-46A1-B87D-D52C8C76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"/>
            <a:ext cx="10363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2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Circumcision-line Incision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CF802-5BD1-40C2-AA19-87DFEBF93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23900"/>
            <a:ext cx="10363200" cy="582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3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623818-FD7C-478E-8CA3-82F2F6D73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66750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CBFFE8-9C63-4959-BE72-9A9DDEF2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67500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160713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3D57BD-51F6-4C5D-A45A-C790EEC67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3350"/>
            <a:ext cx="10363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25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825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CLINICAL CASES / CASE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2464B3-5E6E-4D7D-82C1-4E265536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"/>
            <a:ext cx="10363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2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Secondary Dermal Grafting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F6AB68-7854-4E4F-97B8-F030DA16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23900"/>
            <a:ext cx="10363200" cy="582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3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29B1D3-DE24-4EC4-9B99-9EED144C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66750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C2E0A-5DD9-47E6-9500-E3DA3DE4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67500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132851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48F76B-13AF-4998-A6EB-DE7EF5FC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3350"/>
            <a:ext cx="10363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25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825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CLINICAL CASES / CASE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7B11E6-112E-4B64-8EA0-59E36EAF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"/>
            <a:ext cx="10363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2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Revision Surgery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11A6B2-BEF1-47E5-8362-4588107C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23900"/>
            <a:ext cx="10363200" cy="582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3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4B71A4-92B3-47EF-810F-4E7A6265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66750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235B60-DDBB-4B18-B185-B4F5DAEA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67500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841302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B168A0-DD97-4756-9201-9A459B89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3350"/>
            <a:ext cx="10363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25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825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CLINICAL CASES / CASE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F8D385-9418-4980-B60A-251723390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"/>
            <a:ext cx="10363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2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Contour Step-off Correction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4A2F5-FB8D-4536-9078-E12CC311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23900"/>
            <a:ext cx="10363200" cy="582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3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EB008C-B53B-4AD4-B7BE-5E6CB45C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66750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96C79B-91D5-43E8-B155-1B9D9C371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67500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4760636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51E3ED-C361-49AD-AF9A-C2B4D40E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COMPLICATIONS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DA7D65-89F1-4DB8-AA5D-73483259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Potential Complications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AF3D75-F055-453A-B058-A7CC4D3C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E0B5D-4BDF-4E9A-9B7A-4CF06B5E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F8BB61-C838-4230-A0D2-3FB76F29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Bleeding and swelling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6264C7-82C6-4786-A1DB-4954E4E9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Hematoma, foreskin edema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DEEF72-8D33-440E-BA15-B91BF8A5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28790F-E96E-48F2-B7B7-44B7E1E4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63B1EE-6768-43E8-B348-BA6A8E60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Wound complications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BA2BFD-DD1C-4FAE-A279-1B7369E4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Delayed healing, infection, skin necrosis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517E87-A4FF-4A03-B7AB-1316B148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DFB6FB-B0FA-4D3B-A474-D7968509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7097B9-6682-4C38-8690-DE412DCE9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Contour and discomfort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3E2E82-7767-466B-8639-D664F713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Graft contour irregularity, discomfort during erection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3425C6-2B53-4370-B744-4E38CCD2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Reported in ADM augmentation literature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5B83D9-EAFC-4665-9E59-0312427D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685A5A-49EA-4695-B4FE-28BBA336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3194060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123E88-B70D-4A4B-86F5-B7AC4396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AFTERCARE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DAB37F-E3BA-4966-AA0E-92EDF6FCE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Postoperative Care &amp; Dressing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ABB487-3AC7-41AA-99BE-D6D29655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4844CD-6DDF-43B7-A819-E204A13C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5105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Postoperative care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D0F480-55F0-4892-8818-B904556A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5105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6334D7-46A8-4A0F-9697-87A4AC68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75F113-CE2D-48FC-9652-78865A925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105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Dressing technique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72D158-5B30-4584-B6CA-DDB96FC8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81400"/>
            <a:ext cx="5105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995B6F-4E0F-4524-84D9-D20BA40CA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F514B7-4835-4769-9464-F3D4C536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1360883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D8B6E4-D899-463D-9BEC-1929FCFA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DISCUSSION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8CBBD-9CFE-4220-8F6B-1C192CB4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Questions &amp; Answers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396832-6E4C-45D7-85DA-E4315156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2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32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0D5ACB-4128-4C59-A1F6-EBBCB66F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9C5626-B4DA-452D-A2CC-C536A0B6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7281800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2026-10-12T05:17:31.0000000Z</dcterms:created>
  <dcterms:modified xsi:type="dcterms:W3CDTF">2026-10-12T05:17:31.0000000Z</dcterms:modified>
</coreProperties>
</file>