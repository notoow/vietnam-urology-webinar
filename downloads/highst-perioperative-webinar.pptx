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c8188ae26ba47c4" /><Relationship Type="http://schemas.openxmlformats.org/officeDocument/2006/relationships/extended-properties" Target="/docProps/app.xml" Id="R35723eb3a0294791" /><Relationship Type="http://schemas.openxmlformats.org/officeDocument/2006/relationships/officeDocument" Target="/ppt/presentation.xml" Id="Rf6313e74e86243b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e4b86797d624a58"/>
  </p:sldMasterIdLst>
  <p:notesMasterIdLst>
    <p:notesMasterId xmlns:r="http://schemas.openxmlformats.org/officeDocument/2006/relationships" r:id="Ra2ab7c1ce639433c"/>
  </p:notesMasterIdLst>
  <p:sldIdLst>
    <p:sldId xmlns:r="http://schemas.openxmlformats.org/officeDocument/2006/relationships" id="256" r:id="Rf5779f12b4bf4dd1"/>
    <p:sldId xmlns:r="http://schemas.openxmlformats.org/officeDocument/2006/relationships" id="257" r:id="Rc8e44ee479844dff"/>
    <p:sldId xmlns:r="http://schemas.openxmlformats.org/officeDocument/2006/relationships" id="258" r:id="Re05371eaadb245f4"/>
    <p:sldId xmlns:r="http://schemas.openxmlformats.org/officeDocument/2006/relationships" id="259" r:id="R354e1223462e42c5"/>
    <p:sldId xmlns:r="http://schemas.openxmlformats.org/officeDocument/2006/relationships" id="260" r:id="Rcb6e510a8f7e42e0"/>
    <p:sldId xmlns:r="http://schemas.openxmlformats.org/officeDocument/2006/relationships" id="261" r:id="R18d9c8f53bb94cdd"/>
    <p:sldId xmlns:r="http://schemas.openxmlformats.org/officeDocument/2006/relationships" id="262" r:id="R16881e609b6144b9"/>
    <p:sldId xmlns:r="http://schemas.openxmlformats.org/officeDocument/2006/relationships" id="263" r:id="R1bd36b85784741f5"/>
    <p:sldId xmlns:r="http://schemas.openxmlformats.org/officeDocument/2006/relationships" id="264" r:id="R2a3eaae7ab8b4d78"/>
    <p:sldId xmlns:r="http://schemas.openxmlformats.org/officeDocument/2006/relationships" id="265" r:id="Rcffa18540e0e4d81"/>
    <p:sldId xmlns:r="http://schemas.openxmlformats.org/officeDocument/2006/relationships" id="266" r:id="R87daa993a2704043"/>
    <p:sldId xmlns:r="http://schemas.openxmlformats.org/officeDocument/2006/relationships" id="267" r:id="Rd84b121b5a704b7a"/>
    <p:sldId xmlns:r="http://schemas.openxmlformats.org/officeDocument/2006/relationships" id="268" r:id="R669cbb7d9d814bb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ab4f63361c2495d" /><Relationship Type="http://schemas.openxmlformats.org/officeDocument/2006/relationships/slideMaster" Target="/ppt/slideMasters/slideMaster1.xml" Id="R1e4b86797d624a58" /><Relationship Type="http://schemas.openxmlformats.org/officeDocument/2006/relationships/notesMaster" Target="/ppt/notesMasters/notesMaster1.xml" Id="Ra2ab7c1ce639433c" /><Relationship Type="http://schemas.openxmlformats.org/officeDocument/2006/relationships/presProps" Target="/ppt/presProps.xml" Id="R0a841e289ce3405d" /><Relationship Type="http://schemas.openxmlformats.org/officeDocument/2006/relationships/tableStyles" Target="/ppt/tableStyles.xml" Id="Rbc7c33d33bc142da" /><Relationship Type="http://schemas.openxmlformats.org/officeDocument/2006/relationships/slide" Target="/ppt/slides/slide1.xml" Id="Rf5779f12b4bf4dd1" /><Relationship Type="http://schemas.openxmlformats.org/officeDocument/2006/relationships/slide" Target="/ppt/slides/slide2.xml" Id="Rc8e44ee479844dff" /><Relationship Type="http://schemas.openxmlformats.org/officeDocument/2006/relationships/slide" Target="/ppt/slides/slide3.xml" Id="Re05371eaadb245f4" /><Relationship Type="http://schemas.openxmlformats.org/officeDocument/2006/relationships/slide" Target="/ppt/slides/slide4.xml" Id="R354e1223462e42c5" /><Relationship Type="http://schemas.openxmlformats.org/officeDocument/2006/relationships/slide" Target="/ppt/slides/slide5.xml" Id="Rcb6e510a8f7e42e0" /><Relationship Type="http://schemas.openxmlformats.org/officeDocument/2006/relationships/slide" Target="/ppt/slides/slide6.xml" Id="R18d9c8f53bb94cdd" /><Relationship Type="http://schemas.openxmlformats.org/officeDocument/2006/relationships/slide" Target="/ppt/slides/slide7.xml" Id="R16881e609b6144b9" /><Relationship Type="http://schemas.openxmlformats.org/officeDocument/2006/relationships/slide" Target="/ppt/slides/slide8.xml" Id="R1bd36b85784741f5" /><Relationship Type="http://schemas.openxmlformats.org/officeDocument/2006/relationships/slide" Target="/ppt/slides/slide9.xml" Id="R2a3eaae7ab8b4d78" /><Relationship Type="http://schemas.openxmlformats.org/officeDocument/2006/relationships/slide" Target="/ppt/slides/slide10.xml" Id="Rcffa18540e0e4d81" /><Relationship Type="http://schemas.openxmlformats.org/officeDocument/2006/relationships/slide" Target="/ppt/slides/slide11.xml" Id="R87daa993a2704043" /><Relationship Type="http://schemas.openxmlformats.org/officeDocument/2006/relationships/slide" Target="/ppt/slides/slide12.xml" Id="Rd84b121b5a704b7a" /><Relationship Type="http://schemas.openxmlformats.org/officeDocument/2006/relationships/slide" Target="/ppt/slides/slide13.xml" Id="R669cbb7d9d814bb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947fb38cf5d41a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0774d346adf453e" /><Relationship Type="http://schemas.openxmlformats.org/officeDocument/2006/relationships/notesMaster" Target="/ppt/notesMasters/notesMaster1.xml" Id="R7672bbffc1884a0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b1547f27def4bfb" /><Relationship Type="http://schemas.openxmlformats.org/officeDocument/2006/relationships/notesMaster" Target="/ppt/notesMasters/notesMaster1.xml" Id="Rd70b484febd04ac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eea79307f634ca3" /><Relationship Type="http://schemas.openxmlformats.org/officeDocument/2006/relationships/notesMaster" Target="/ppt/notesMasters/notesMaster1.xml" Id="Raa416695d3924a9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76d0e44d46b45c3" /><Relationship Type="http://schemas.openxmlformats.org/officeDocument/2006/relationships/notesMaster" Target="/ppt/notesMasters/notesMaster1.xml" Id="Rd2d023f74aa2470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c654b03676647ff" /><Relationship Type="http://schemas.openxmlformats.org/officeDocument/2006/relationships/notesMaster" Target="/ppt/notesMasters/notesMaster1.xml" Id="R4279744abd56417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4755a3fafae4126" /><Relationship Type="http://schemas.openxmlformats.org/officeDocument/2006/relationships/notesMaster" Target="/ppt/notesMasters/notesMaster1.xml" Id="R88f84f57312b4da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c7e0f671c4e45e6" /><Relationship Type="http://schemas.openxmlformats.org/officeDocument/2006/relationships/notesMaster" Target="/ppt/notesMasters/notesMaster1.xml" Id="Radac3b550e56475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0dd86ae39a4447d" /><Relationship Type="http://schemas.openxmlformats.org/officeDocument/2006/relationships/notesMaster" Target="/ppt/notesMasters/notesMaster1.xml" Id="R376bb19df8ea4bc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e5be23254cf4435" /><Relationship Type="http://schemas.openxmlformats.org/officeDocument/2006/relationships/notesMaster" Target="/ppt/notesMasters/notesMaster1.xml" Id="Rf2ccd432022f408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dd29336d82e42b1" /><Relationship Type="http://schemas.openxmlformats.org/officeDocument/2006/relationships/notesMaster" Target="/ppt/notesMasters/notesMaster1.xml" Id="Rdf04fc2c1a524fc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d9e70d0b9f94f1c" /><Relationship Type="http://schemas.openxmlformats.org/officeDocument/2006/relationships/notesMaster" Target="/ppt/notesMasters/notesMaster1.xml" Id="R9730a73f38f84b1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20c66de4a0b425c" /><Relationship Type="http://schemas.openxmlformats.org/officeDocument/2006/relationships/notesMaster" Target="/ppt/notesMasters/notesMaster1.xml" Id="Rd6780d2d896e45a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b19c9d8a0364fca" /><Relationship Type="http://schemas.openxmlformats.org/officeDocument/2006/relationships/notesMaster" Target="/ppt/notesMasters/notesMaster1.xml" Id="R84aa07ffc2d84d4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Jinmo Koo, HIGHST Urology. Vietnam MegaDerm Webinar, 21 October 2026. Portrait supplied by HIGHST. Brand reference: https://www.highsturology.co.kr/v2/proud/doctor.php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Jinmo Koo, HIGHST Urology.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Education</a:t>
            </a:r>
          </a:p>
          <a:p xmlns:a="http://schemas.openxmlformats.org/drawingml/2006/main">
            <a:r>
              <a:t>Graduated from Korea University College of Medicine.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Clinical and academic appointments</a:t>
            </a:r>
          </a:p>
          <a:p xmlns:a="http://schemas.openxmlformats.org/drawingml/2006/main">
            <a:r>
              <a:t>Current Chief Director, HIGHST Urology.</a:t>
            </a:r>
          </a:p>
          <a:p xmlns:a="http://schemas.openxmlformats.org/drawingml/2006/main">
            <a:r>
              <a:t>Former Chief Director, PROUD Urology.</a:t>
            </a:r>
          </a:p>
          <a:p xmlns:a="http://schemas.openxmlformats.org/drawingml/2006/main">
            <a:r>
              <a:t>Adjunct Professor of Urology, Ewha Womans University Mokdong Hospital.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Training, appointments and recognition</a:t>
            </a:r>
          </a:p>
          <a:p xmlns:a="http://schemas.openxmlformats.org/drawingml/2006/main">
            <a:r>
              <a:t>Completed erectile dysfunction training at UCI, USA.</a:t>
            </a:r>
          </a:p>
          <a:p xmlns:a="http://schemas.openxmlformats.org/drawingml/2006/main">
            <a:r>
              <a:t>Coloplast Reference Doctor.</a:t>
            </a:r>
          </a:p>
          <a:p xmlns:a="http://schemas.openxmlformats.org/drawingml/2006/main">
            <a:r>
              <a:t>Designated physician, Boston Scientific Center of Education.</a:t>
            </a:r>
          </a:p>
          <a:p xmlns:a="http://schemas.openxmlformats.org/drawingml/2006/main">
            <a:r>
              <a:t>Designated physician, Boston Scientific Center of Excellence.</a:t>
            </a:r>
          </a:p>
          <a:p xmlns:a="http://schemas.openxmlformats.org/drawingml/2006/main">
            <a:r>
              <a:t>Rigicon Certificate of Recognition.</a:t>
            </a:r>
          </a:p>
          <a:p xmlns:a="http://schemas.openxmlformats.org/drawingml/2006/main">
            <a:r>
              <a:t>Designated physician, Litemed Training Center.</a:t>
            </a:r>
          </a:p>
          <a:p xmlns:a="http://schemas.openxmlformats.org/drawingml/2006/main">
            <a:r>
              <a:t>Designated physician, Hsing-Chi Training Center.</a:t>
            </a:r>
          </a:p>
          <a:p xmlns:a="http://schemas.openxmlformats.org/drawingml/2006/main">
            <a:r>
              <a:t>Officially appointed consultant for international training, L&amp;C Bio.</a:t>
            </a:r>
          </a:p>
          <a:p xmlns:a="http://schemas.openxmlformats.org/drawingml/2006/main">
            <a:r>
              <a:t>Outstanding Presentation Award, Taiwan Andrology Association (TAA), 2024.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Full member of the Korean Urological Association, International Society for Sexual Medicine and Asia Pacific Society for Sexual Medicine.</a:t>
            </a:r>
          </a:p>
          <a:p xmlns:a="http://schemas.openxmlformats.org/drawingml/2006/main">
            <a:r>
              <a:t>Portrait supplied by HIGHST.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https://www.highsturology.co.kr/v2/proud/doctor.php</a:t>
            </a:r>
          </a:p>
          <a:p xmlns:a="http://schemas.openxmlformats.org/drawingml/2006/main">
            <a:r>
              <a:t>https://www.issm.info/public/about/vision-and-mission</a:t>
            </a:r>
          </a:p>
          <a:p xmlns:a="http://schemas.openxmlformats.org/drawingml/2006/main">
            <a:r>
              <a:t>https://apssm.asia/</a:t>
            </a:r>
          </a:p>
          <a:p xmlns:a="http://schemas.openxmlformats.org/drawingml/2006/main">
            <a:r>
              <a:t>https://uroweb.org/education-events/78th-annual-meeting-of-the-korean-urological-association-kua-2026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MegaDerm is a sheet acellular dermal matrix. HIGHST stocks hydrated and freeze-dried types. The stated thickness and sizes describe HIGHST's inventory. MegaFill is a micronized form of acellular dermal matrix. The photograph is supplied by HIGHST. Individual packages are not assigned type labels.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https://lncbio.co.kr/theme/basic/images/L%26CBIO_catalog.pdf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Preoperative assessment at HIGHST includes IIEF and PEDT questionnaires, the listed laboratory and infection tests, flaccid and stretched penile length measurement, and penile biothesiometry. HbA1c denotes glycated hemoglobin. Sources: https://pubmed.ncbi.nlm.nih.gov/9187685/ ; https://pubmed.ncbi.nlm.nih.gov/17568761/ ; https://www.niddk.nih.gov/health-information/diagnostic-tests/a1c-test/ ; https://pubmed.ncbi.nlm.nih.gov/28874780/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Shaving and draping.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Case 1: Pubic Incision.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Case 2: Circumcision-line Incision.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Case 3: Secondary Dermal Grafting.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Case 4: Revision Surgery.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Case 5: Contour Step-off Correction.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categories are reported in published ADM augmentation literature. They do not represent HIGHST or MegaDerm-specific outcome data. No incidence rates are extrapolated to HIGHST.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Sources</a:t>
            </a:r>
          </a:p>
          <a:p xmlns:a="http://schemas.openxmlformats.org/drawingml/2006/main">
            <a:r>
              <a:t>https://pubmed.ncbi.nlm.nih.gov/31420614/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Postoperative care and dressing technique.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Thank you.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b7788a0ceb4bd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bb768ba18e4c3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eb8bcac2264c2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f6251969514ec5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d7408926e67485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b81e4e480a24ac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A6E44E8-36A2-48F6-92E2-2C97D5563E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8377F09F-61C5-4117-B6FF-CAF930E6187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1B3A2E59-D483-4F2F-B85D-769B5E3D00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7EC275D-06C9-430E-A7B4-06E8C22A70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A8556CA-28A7-4FBC-9532-D7C5527857B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F69A508-08B1-41F4-942C-B4784B007B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85EF9FD-27EB-422A-8667-50F2D0DDF09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C568216B-8AC9-410A-9ADA-52996E576049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FBB7E8F-CB9C-4629-9493-7F46CC3C68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3A317F4-05E1-4441-9077-6D8960B0D36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3f04579240841a2" /><Relationship Type="http://schemas.openxmlformats.org/officeDocument/2006/relationships/slideLayout" Target="/ppt/slideLayouts/slideLayout1.xml" Id="Rc4724ac84be746b1" /><Relationship Type="http://schemas.openxmlformats.org/officeDocument/2006/relationships/slideLayout" Target="/ppt/slideLayouts/slideLayout2.xml" Id="Rb1eb53b8fd6f4483" /><Relationship Type="http://schemas.openxmlformats.org/officeDocument/2006/relationships/slideLayout" Target="/ppt/slideLayouts/slideLayout3.xml" Id="Re94d184f823f4d91" /><Relationship Type="http://schemas.openxmlformats.org/officeDocument/2006/relationships/slideLayout" Target="/ppt/slideLayouts/slideLayout4.xml" Id="Rfc070b71b8854a19" /><Relationship Type="http://schemas.openxmlformats.org/officeDocument/2006/relationships/slideLayout" Target="/ppt/slideLayouts/slideLayout5.xml" Id="Rc1c8252ac377411c" /><Relationship Type="http://schemas.openxmlformats.org/officeDocument/2006/relationships/slideLayout" Target="/ppt/slideLayouts/slideLayout6.xml" Id="Re0385a36e136425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4724ac84be746b1"/>
    <p:sldLayoutId xmlns:r="http://schemas.openxmlformats.org/officeDocument/2006/relationships" id="2147483650" r:id="Rb1eb53b8fd6f4483"/>
    <p:sldLayoutId xmlns:r="http://schemas.openxmlformats.org/officeDocument/2006/relationships" id="2147483651" r:id="Re94d184f823f4d91"/>
    <p:sldLayoutId xmlns:r="http://schemas.openxmlformats.org/officeDocument/2006/relationships" id="2147483652" r:id="Rfc070b71b8854a19"/>
    <p:sldLayoutId xmlns:r="http://schemas.openxmlformats.org/officeDocument/2006/relationships" id="2147483653" r:id="Rc1c8252ac377411c"/>
    <p:sldLayoutId xmlns:r="http://schemas.openxmlformats.org/officeDocument/2006/relationships" id="2147483654" r:id="Re0385a36e136425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6cd81457c8543f9" /><Relationship Type="http://schemas.openxmlformats.org/officeDocument/2006/relationships/image" Target="/ppt/media/image.png" Id="R2a47e04123a042c6" /><Relationship Type="http://schemas.openxmlformats.org/officeDocument/2006/relationships/image" Target="/ppt/media/image2.png" Id="R7d596187d54343c3" /><Relationship Type="http://schemas.openxmlformats.org/officeDocument/2006/relationships/notesSlide" Target="/ppt/notesSlides/notesSlide1.xml" Id="Rbedd427ea733472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22341e64be4497" /><Relationship Type="http://schemas.openxmlformats.org/officeDocument/2006/relationships/image" Target="/ppt/media/image3.png" Id="R272bb7b107eb4819" /><Relationship Type="http://schemas.openxmlformats.org/officeDocument/2006/relationships/image" Target="/ppt/media/image4.png" Id="Rd11d0aa752834341" /><Relationship Type="http://schemas.openxmlformats.org/officeDocument/2006/relationships/notesSlide" Target="/ppt/notesSlides/notesSlide2.xml" Id="R03cb2e642fc042a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bca637c5d9a446a" /><Relationship Type="http://schemas.openxmlformats.org/officeDocument/2006/relationships/image" Target="/ppt/media/image5.png" Id="R738ba423897c4d0a" /><Relationship Type="http://schemas.openxmlformats.org/officeDocument/2006/relationships/image" Target="/ppt/media/image6.png" Id="R59154e3b60e943af" /><Relationship Type="http://schemas.openxmlformats.org/officeDocument/2006/relationships/notesSlide" Target="/ppt/notesSlides/notesSlide3.xml" Id="Rf36ae792c3a1449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074572872944d56" /><Relationship Type="http://schemas.openxmlformats.org/officeDocument/2006/relationships/image" Target="/ppt/media/image7.png" Id="Rb0caf6ee2325477c" /><Relationship Type="http://schemas.openxmlformats.org/officeDocument/2006/relationships/notesSlide" Target="/ppt/notesSlides/notesSlide4.xml" Id="R5cb6d814a9aa456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3df6aa0867b4f4b" /><Relationship Type="http://schemas.openxmlformats.org/officeDocument/2006/relationships/image" Target="/ppt/media/image8.png" Id="Rc52bb6764c05416d" /><Relationship Type="http://schemas.openxmlformats.org/officeDocument/2006/relationships/notesSlide" Target="/ppt/notesSlides/notesSlide5.xml" Id="Rcc8d3e3dacc04ba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8c6cdf39c4043bb" /><Relationship Type="http://schemas.openxmlformats.org/officeDocument/2006/relationships/image" Target="/ppt/media/image9.png" Id="Re50b36ccc947498f" /><Relationship Type="http://schemas.openxmlformats.org/officeDocument/2006/relationships/notesSlide" Target="/ppt/notesSlides/notesSlide6.xml" Id="R6855da74e894456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e3c26e367914cc1" /><Relationship Type="http://schemas.openxmlformats.org/officeDocument/2006/relationships/image" Target="/ppt/media/image10.png" Id="Ra69d2eebf0f8423c" /><Relationship Type="http://schemas.openxmlformats.org/officeDocument/2006/relationships/notesSlide" Target="/ppt/notesSlides/notesSlide7.xml" Id="R5e540b8431f044f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4421ffcb1a4a04" /><Relationship Type="http://schemas.openxmlformats.org/officeDocument/2006/relationships/image" Target="/ppt/media/image11.png" Id="R9356ea0803d2489b" /><Relationship Type="http://schemas.openxmlformats.org/officeDocument/2006/relationships/notesSlide" Target="/ppt/notesSlides/notesSlide8.xml" Id="R49858328053b408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0046d40d6a84927" /><Relationship Type="http://schemas.openxmlformats.org/officeDocument/2006/relationships/image" Target="/ppt/media/image12.png" Id="Rf976ad09c42345e5" /><Relationship Type="http://schemas.openxmlformats.org/officeDocument/2006/relationships/notesSlide" Target="/ppt/notesSlides/notesSlide9.xml" Id="Rdef1e279baa8416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190abb74374595" /><Relationship Type="http://schemas.openxmlformats.org/officeDocument/2006/relationships/image" Target="/ppt/media/image13.png" Id="Rcdb83d08ba654c5f" /><Relationship Type="http://schemas.openxmlformats.org/officeDocument/2006/relationships/notesSlide" Target="/ppt/notesSlides/notesSlide10.xml" Id="R3d0e914088be4557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65bea3de12043be" /><Relationship Type="http://schemas.openxmlformats.org/officeDocument/2006/relationships/image" Target="/ppt/media/image14.png" Id="R8624a900c7574ce9" /><Relationship Type="http://schemas.openxmlformats.org/officeDocument/2006/relationships/notesSlide" Target="/ppt/notesSlides/notesSlide11.xml" Id="Rf6a155455a814f5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ea82297471243ee" /><Relationship Type="http://schemas.openxmlformats.org/officeDocument/2006/relationships/image" Target="/ppt/media/image15.png" Id="R5baffcb496f841ed" /><Relationship Type="http://schemas.openxmlformats.org/officeDocument/2006/relationships/notesSlide" Target="/ppt/notesSlides/notesSlide12.xml" Id="R91a2780a21f9406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4a389ef5fb4844" /><Relationship Type="http://schemas.openxmlformats.org/officeDocument/2006/relationships/image" Target="/ppt/media/image16.png" Id="R41c5cbb4bb394230" /><Relationship Type="http://schemas.openxmlformats.org/officeDocument/2006/relationships/notesSlide" Target="/ppt/notesSlides/notesSlide13.xml" Id="Rdc85c4b7be25472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591CCF0-2539-48EC-B549-3904111168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47e04123a042c6"/>
          <a:stretch xmlns:a="http://schemas.openxmlformats.org/drawingml/2006/main"/>
        </p:blipFill>
        <p:spPr>
          <a:xfrm xmlns:a="http://schemas.openxmlformats.org/drawingml/2006/main">
            <a:off x="693275" y="609600"/>
            <a:ext cx="1813850" cy="514350"/>
          </a:xfrm>
          <a:prstGeom xmlns:a="http://schemas.openxmlformats.org/drawingml/2006/main" prst="rect">
            <a:avLst/>
          </a:prstGeom>
        </p:spPr>
      </p:pic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D26FB7-B807-4589-BB9A-3C89F554B5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596187d54343c3"/>
          <a:srcRect xmlns:a="http://schemas.openxmlformats.org/drawingml/2006/main" l="33753" t="0" r="3375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248650" y="609600"/>
            <a:ext cx="3257550" cy="563880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D499451-1EBE-44EE-A063-F19D15B18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3830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Vietnam Urology Webinar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8F6B55-A3CE-46A1-9338-5D6766B51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62175"/>
            <a:ext cx="70294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MegaDerm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AEA38E-BE10-4125-9DDF-FB1840176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7086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Penile Augmentation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71C907-7001-4257-A167-1069279BA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7029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Clinical cases and perioperative care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B36733-837F-4304-85ED-D87D871A9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57775"/>
            <a:ext cx="70294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0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0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202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Jinmo Koo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7ED2A9-F42B-47A0-84E7-C52E6DC90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76875"/>
            <a:ext cx="7029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HIGHST Urology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F06D45-54D4-4D05-940C-D4540FF05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34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21 October 2026</a:t>
            </a:r>
          </a:p>
        </p:txBody>
      </p:sp>
    </p:spTree>
    <p:extLst>
      <p:ext uri="{BB962C8B-B14F-4D97-AF65-F5344CB8AC3E}">
        <p14:creationId xmlns:p14="http://schemas.microsoft.com/office/powerpoint/2010/main" val="1949761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40CBA8B-655B-407B-8CBE-F6293A1F6FD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2bb7b107eb4819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85800" y="514350"/>
            <a:ext cx="1000125" cy="1285875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9DC17B-A94A-4454-88A7-581CC0376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552450"/>
            <a:ext cx="72961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Jinmo Koo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1781DF-1921-4842-BE82-B5B8F8722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143000"/>
            <a:ext cx="72961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HIGHST Urology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3C6D4A-EE18-4F45-85B3-B8B379A8C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1609725"/>
            <a:ext cx="7296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Graduate, Korea University College of Medicine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7E7185-5A2A-451E-870B-312B9DAE79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1d0aa752834341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D00A424-EE8F-4C57-AA10-6792B542B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5E8D31-867F-44D1-B19E-272E4A921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Clinical &amp; academic appointments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22ACAA-9141-41C1-9298-8340FEE8C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289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Chief Director, HIGHST Urology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21041A-9BDC-4F00-BC87-A794ED6DB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718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Former Chief Director, PROUD Urology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B6A706-10D3-436D-9BF7-6D14F0418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147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Adjunct Professor of Urology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D18DE71-B3E3-4365-B61E-639E8ADA6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Ewha Womans University Mokdong Hospital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F1ECD39-A434-4085-9CDE-22653AF5C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523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Professional memberships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27DDB7-C062-43A6-B816-7D2FE93CB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863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Korean Urological Association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34CC5E-E8B9-41C7-B38A-F6D30A19A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292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International Society for Sexual Medicine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74DF2CA-161E-445B-8072-95D2B62D8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72125"/>
            <a:ext cx="5238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Asia Pacific Society for Sexual Medicine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E40D3E-AF98-4C33-8C81-02DA5129E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400300"/>
            <a:ext cx="5105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6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Training, appointments &amp; recognition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201E918-8579-40AD-B5F3-5552F70E5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828925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UCI, USA: Erectile dysfunction training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BE6877-0B40-434F-8443-D229A946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71825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Coloplast Reference Doctor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F010C1-F6C7-45F2-8067-0ACF17255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14725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Boston Scientific designated physician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5D867B4-2BAB-4F74-9E8C-68A3856B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781425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Center of Education / Center of Excellence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FAF73B-17C8-4F95-BCC6-ECC5D70B36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124325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Rigicon Certificate of Recognition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DD9F533-98A2-4ED1-9A48-1F747BEED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467225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Litemed / Hsing-Chi Training Center physician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E8AE860-92CA-4F32-A324-9781E7250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10125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L&amp;C Bio international training consultant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660224-0471-4FBC-B962-ECD0B154F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295900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57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Outstanding Presentation Award (2024)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4EA976-545E-47A3-84A5-899F450CF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5562600"/>
            <a:ext cx="5105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57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Taiwan Andrology Association (TAA)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90B9035-C482-49D9-8E43-DAE830C3E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382D8C-1899-48A2-A947-2A8C2A8C0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80734391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51A0334-C97C-46B2-B54A-81B9D919D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"/>
            <a:ext cx="8667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MegaDerm &amp; MegaFill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8E3710-EE2C-4015-9C91-BB0331C3772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8ba423897c4d0a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40F29F-FFD1-46E8-870A-23C1D9DDF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33F486-66A1-4934-B370-C9B46D5D8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MegaDerm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B72789-2BF5-44A5-9A1E-33449077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003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Acellular dermal matrix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53C90F-8D84-43D7-A469-E780CC08E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7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Hydrated / Freeze-dried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95F2CF-4132-46FF-AD8A-669AEB89E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3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3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232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MegaFill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C69283B-DFF7-4382-8F5C-71C37B4B2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509587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Micronized acellular dermal matrix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9B3DAC-C75D-4412-8713-EB09B37CC3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154e3b60e943af"/>
          <a:stretch xmlns:a="http://schemas.openxmlformats.org/drawingml/2006/main"/>
        </p:blipFill>
        <p:spPr>
          <a:xfrm xmlns:a="http://schemas.openxmlformats.org/drawingml/2006/main">
            <a:off x="6172200" y="1999129"/>
            <a:ext cx="5334000" cy="3012141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D24736-92BE-4B27-A440-F3AD01C5B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6735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3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MegaDerm stock at HIGHST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36D451-9D73-4ADA-8D04-C201D7111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1047750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65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65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65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3–5 mm thick     5 × 6, 5 × 8, 5 × 10, 6 × 12 cm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85BA29-D50C-4629-BFA2-88DA0BC33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954C12-A78C-47E2-A933-AB9250D1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28962031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58A240-2066-4E5A-AD99-7D50F2CA5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"/>
            <a:ext cx="8667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Preoperative Evaluation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90022F-24E1-40D5-BF8D-2D46B2C9C6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caf6ee2325477c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C43C7AF-62FC-4932-9AA3-6921C7B4C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4A56C0-55AE-4DC1-BE43-DD5C7ACEB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33550"/>
            <a:ext cx="4705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Questionnaires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23B8F1B-3570-449D-99DE-0F30916F2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62175"/>
            <a:ext cx="4705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40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40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240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IIEF / PEDT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CD2E4E9-8924-4ADE-B1AF-1034FD8E7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95575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International Index of Erectile Function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F44EEA-69A8-4AAA-95B7-70A6425CC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90850"/>
            <a:ext cx="47625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425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Premature Ejaculation Diagnostic Tool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96F1EF-98DD-488A-822D-1AE5195D4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81425"/>
            <a:ext cx="47053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Physical examination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DEB3B5-94F2-4B39-8C05-980B812E5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10050"/>
            <a:ext cx="4705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Penile length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811411-1721-4A2E-B25C-ECFCC686E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72000"/>
            <a:ext cx="4705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Flaccid and stretched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601EE9-EE19-4FB0-9314-8B7FC96A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67300"/>
            <a:ext cx="4705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9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95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95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Penile biothesiometry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B68B89-0734-4E97-9E38-B790152BA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429250"/>
            <a:ext cx="4705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5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Vibration perception threshold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4A765D-7056-4494-BE41-F3BB9653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67400" y="1733550"/>
            <a:ext cx="9525" cy="405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2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5672D1-EB36-4032-9092-E24A0CB28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33550"/>
            <a:ext cx="51625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725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Laboratory tests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D46F99-0CFC-4E8F-BC68-53C9E50E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23837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Blood coagulation tests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D3E60B-1A62-4446-8680-70E361EB4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60032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Complete blood count (CBC)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1D0599-3FA7-4655-8D2C-EE663B790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96227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Prostate-specific antigen (PSA)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CD23F2F-C37E-4183-B6B7-C63FCB5D0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32422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Blood glucose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8ED8E9-25ED-4CAB-9A42-8395AC36B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8617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HbA1c (glycated hemoglobin)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C5AF21-A132-4FE2-AA38-17670C57A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04812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HPV testing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645BEA7-DBD0-421E-94CE-8AEA969D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41007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Syphilis testing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F9584A-E4AF-4476-B712-462BEAA7A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77202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Urine testing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7AFEDF-8484-4566-B882-42D9249D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13397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Liver function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E3443A2-5A73-401F-AE23-E064823F6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5495925"/>
            <a:ext cx="5162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Inflammatory markers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F42D713-6D6B-4A28-86DC-9B9618B68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FA6672E-A783-4D16-9A27-035C12082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8960242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7D09AD-F5D8-42BF-94EF-CFB2EE192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Shaving and Draping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3B6540-F3DD-4C63-91E3-3D81E79AB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6275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Surgical Preparation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9DA20D-4428-4C4B-A4F4-698245AB596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2bb6764c05416d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F70C19-F192-4A49-9598-9354B62E1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5255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1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E470C87-4D92-4116-B9A1-BDC52F79B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44870D-0D3E-4278-9EF2-5A82126E9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432360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77C5B1-328B-4EE5-A4ED-674805CD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Case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A8FCE8-F615-42CE-A51D-86F9D065B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6275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Pubic Incision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DBF23C-4743-49AC-9A19-BFDDE55E49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0b36ccc947498f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90B3C0-6AD1-4A36-8E71-574A91F42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5255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1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4E9914-8503-4B4D-ABA2-690F6E1F8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83710F-FCE4-454C-BCC8-678F7619E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6005108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6E65A33-1478-45DE-A55B-860E66174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Case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F71B2E-90D2-4701-BC43-5F211436D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6275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Circumcision-line Incision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4E4716D-5330-4F48-BEA9-25F31212A67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9d2eebf0f8423c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5A63D8-D951-41FF-B99C-023FDC51B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5255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1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CD9DCF-87AA-4557-89CA-41CCBFA8D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A0508E-7F63-44EC-8DEE-34C68ED8E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502143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FE57C6-71EB-4AAD-A1C6-53466709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Case 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E9FE4B-75D8-4C3B-9CD0-1D8CA7B45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6275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Secondary Dermal Grafting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722E21-3F88-4521-82CA-3B3BB0947D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56ea0803d2489b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AE2A5A-3136-4E1B-8D3A-6379304D3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5255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1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E17AEB-65FA-4218-A45F-FF350D3BE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584A84-242D-42FE-B60B-AAC07500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75829618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EFFF0C-5F1A-430F-8F68-794ADC1F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Case 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37BA3E-90F8-4BE9-9A09-4798F6E1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6275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Revision Surgery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921F0D3-F3F2-4EB6-A693-4FCAE4BCE6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76ad09c42345e5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9ABFE0-A0C8-49ED-99B1-BD252FC6D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5255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1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E3A00B-9BFB-46BA-8F40-36EA2F760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B75E12-02D1-4A19-ABA2-7A225ACA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53375818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CC8578-BE60-47F4-AEA0-46737A50A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Case 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F9F4FA-198F-4D36-99AA-C7F859ECE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6275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Contour Step-off Correction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722FED-58C5-4CF9-9D75-C0E52A159F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b83d08ba654c5f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75758C-78CE-4C36-A0A3-D8BBF900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5255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1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062B07-BC86-4147-BA28-D47C5FAB4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D684FD-AEC7-4EE4-B93D-3C2BADE10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53954731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938EF6B-FE62-445D-AE07-6BBD213B7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0075"/>
            <a:ext cx="8667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22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Potential Complications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99F160-A985-41CF-9F75-7E709AF682B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24a900c7574ce9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9F9C19-7850-4A53-94E9-9DF147D1B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239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2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BE49D6-D68B-43C6-831D-6AFF98455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5737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Bleeding and swelling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8A8C58-EEFD-4BEB-B5C0-2764DDDD4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4315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Hematoma, foreskin edema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93B469-E634-4F73-B3FC-7BED0291D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47975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2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3E72C7B-002D-4A2B-856F-51634CFF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Wound complications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F6FE1E-F795-4E2E-BBBE-40D373556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29025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Delayed healing, infection, skin necrosis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B73CDEA-F920-4B8C-82FF-53BA65709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33850"/>
            <a:ext cx="108204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1E2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C81E8F1-16E2-45B9-ABA3-412451437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29125"/>
            <a:ext cx="108204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2175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Contour and discomfort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74F988-AEA3-4763-AE33-2D3ABE030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108204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Graft contour irregularity, discomfort during erection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B7C36E-2529-459A-8F50-C60309B01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53125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12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Reported in ADM augmentation literature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4DDC7C-E4ED-4F5E-BEB7-DB7EE346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D8E5D1-35EA-4557-8E95-E08D1D280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02446094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C1743D-69D1-4881-B3C6-7DA851C24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"/>
            <a:ext cx="6667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defRPr>
            </a:pPr>
            <a:r>
              <a:rPr sz="1050" b="1">
                <a:solidFill>
                  <a:srgbClr val="98774B"/>
                </a:solidFill>
                <a:latin typeface="Pretendard"/>
                <a:ea typeface="Pretendard"/>
                <a:cs typeface="Pretendard"/>
              </a:rPr>
              <a:t>Dressing technique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D78B7C-92A0-4C4C-8BF4-B974E3A8E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76275"/>
            <a:ext cx="8667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31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Postoperative Care &amp; Dressing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191C6E-690D-4906-9BBC-6527E8B1060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affcb496f841ed"/>
          <a:stretch xmlns:a="http://schemas.openxmlformats.org/drawingml/2006/main"/>
        </p:blipFill>
        <p:spPr>
          <a:xfrm xmlns:a="http://schemas.openxmlformats.org/drawingml/2006/main">
            <a:off x="9926264" y="561975"/>
            <a:ext cx="1578721" cy="447675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6D85C5-E428-4F2F-8FDA-4C091A76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1352550"/>
            <a:ext cx="8534400" cy="480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A1D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9A56D27-7C4B-42A8-A1F5-898EC9A2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03BE37-0DB2-4C71-95FE-A14424081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6874325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66AAD5-68CC-4FB3-95D9-B593DAB5EC3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c5cbb4bb394230"/>
          <a:stretch xmlns:a="http://schemas.openxmlformats.org/drawingml/2006/main"/>
        </p:blipFill>
        <p:spPr>
          <a:xfrm xmlns:a="http://schemas.openxmlformats.org/drawingml/2006/main">
            <a:off x="693275" y="609600"/>
            <a:ext cx="1813850" cy="51435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CB83C39-3F9E-4216-AD9E-4C226AAC3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05075"/>
            <a:ext cx="108204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defRPr>
            </a:pPr>
            <a:r>
              <a:rPr sz="4050" b="1">
                <a:solidFill>
                  <a:srgbClr val="20282C"/>
                </a:solidFill>
                <a:latin typeface="Pretendard"/>
                <a:ea typeface="Pretendard"/>
                <a:cs typeface="Pretendard"/>
              </a:rPr>
              <a:t>Questions &amp; Answers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8E8CE9-B339-41DB-AFE0-27085541D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57600"/>
            <a:ext cx="10820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225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225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225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9E155C-1E16-4155-BAC2-4E204A7A7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6667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Jinmo Koo · HIGHST Urology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7C0277-E035-45C2-A494-9B0A35FCE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0" y="6381750"/>
            <a:ext cx="2667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>
            <a:def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defPPr>
          </a:lstStyle>
          <a:p xmlns:a="http://schemas.openxmlformats.org/drawingml/2006/main">
            <a:pPr>
              <a:def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697276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4959414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2026-10-12T08:05:21.8520000Z</dcterms:created>
  <dcterms:modified xsi:type="dcterms:W3CDTF">2026-10-12T08:05:21.8520000Z</dcterms:modified>
</coreProperties>
</file>